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开场：大家好。mini-agents 是一个用 Go + SQLite 实现的单机版 Agent 编排工具。核心一句话——任务进队列，worker 自动认领并调用 Claude CLI 执行，全程记账。这个项目是逐行教学的产物，用来理解 Multica 这类 Agent 编排系统的核心架构。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定位：一个能真实跑起来的单机 Agent 编排工具。为什么做：这是逐行教学的项目，目标是理解 Multica 的架构——多态 Agent 加异步写入。同时强调真实执行、不 mock，这也是它和普通 demo 的区别。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核心特性七条：任务 API、队列状态机、乐观锁认领、幂等汇报、真实 Agent 执行、全程记账、零 CGO 纯 Go。每一条都对应真实的代码实现，不是概念演示。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架构：三层单向依赖。HTTP 层只做请求翻译，数据层封装全部 SQL，SQLite 负责持久化。Agent 执行器与数据层平级，被 worker 依赖注入——所以 runner 完全可以替换成假程序来测试。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状态机：queued → dispatched → running → completed / failed。worker 六步闭环：认领（乐观锁）→ 开工 → 读任务 → 调 claude → 记账 → 汇报。每一步都有对应的 store 方法，全程可观察。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三张表的分工：issues 是给人看的待办清单，task_queue 是给机器看的执行流水线，agent_runs 是事后可查的记账本。它们通过 issue_id / task_id 在应用层关联——这是参照 Multica 的教训刻意不用外键。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这些都是真实踩过的坑：乐观锁认领解决并发重复；claim_token 保证幂等；直连 claude.exe 解决 Windows 中文乱码；context 超时防止 worker 卡死；NULL 列要扫进 NullString；执行失败也要记账留痕。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进度：M1 任务 CRUD、M2 队列 + worker + 乐观锁 + 幂等、M3 真调 Claude 并记账，三个里程碑都已完成，8 课逐行构建。后续计划：web 前端、多 worker 并发验证、attempts 失败重试。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上手只要三步：git clone、go build、两个终端分别跑 server 和 worker。装好 Claude CLI 后 worker 会真实执行任务；左侧是 HTTP API 和 worker 的运行日志样例。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收尾：这个项目从 0 到 1 讲清了 Agent 编排的核心——并发调度用乐观锁和幂等凭证，进程编排用 os/exec 加超时保护，数据设计用三表分工。感谢聆听，欢迎 Star、提 Issue 交流。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image" Target="../media/image-3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1.png"/><Relationship Id="rId3" Type="http://schemas.openxmlformats.org/officeDocument/2006/relationships/image" Target="../media/image-8-1.png"/><Relationship Id="rId4" Type="http://schemas.openxmlformats.org/officeDocument/2006/relationships/image" Target="../media/image-8-4.png"/><Relationship Id="rId5" Type="http://schemas.openxmlformats.org/officeDocument/2006/relationships/image" Target="../media/image-8-1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B2E"/>
          </a:solidFill>
          <a:ln/>
        </p:spPr>
      </p:sp>
      <p:sp>
        <p:nvSpPr>
          <p:cNvPr id="3" name="Shape 1"/>
          <p:cNvSpPr/>
          <p:nvPr/>
        </p:nvSpPr>
        <p:spPr>
          <a:xfrm>
            <a:off x="-1920240" y="-2468880"/>
            <a:ext cx="4754880" cy="4754880"/>
          </a:xfrm>
          <a:prstGeom prst="ellipse">
            <a:avLst/>
          </a:prstGeom>
          <a:solidFill>
            <a:srgbClr val="00ADD8">
              <a:alpha val="1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9784080" y="4663440"/>
            <a:ext cx="4114800" cy="4114800"/>
          </a:xfrm>
          <a:prstGeom prst="ellipse">
            <a:avLst/>
          </a:prstGeom>
          <a:solidFill>
            <a:srgbClr val="D97757">
              <a:alpha val="1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5596128" y="621792"/>
            <a:ext cx="1005840" cy="1005840"/>
          </a:xfrm>
          <a:prstGeom prst="ellipse">
            <a:avLst/>
          </a:prstGeom>
          <a:solidFill>
            <a:srgbClr val="00ADD8"/>
          </a:solidFill>
          <a:ln/>
        </p:spPr>
      </p:sp>
      <p:pic>
        <p:nvPicPr>
          <p:cNvPr id="6" name="Image 0" descr="C:\Users\WINDOWS\AppData\Local\Temp\mini-agents-ppt\icons\bot-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17413" y="843077"/>
            <a:ext cx="563270" cy="56327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743200" y="1783080"/>
            <a:ext cx="6675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300" kern="0" dirty="0">
                <a:solidFill>
                  <a:srgbClr val="9FD8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单机版 Agent 编排工具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1097280" y="2212848"/>
            <a:ext cx="999439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mini-agents</a:t>
            </a:r>
            <a:endParaRPr lang="en-US" sz="6000" dirty="0"/>
          </a:p>
        </p:txBody>
      </p:sp>
      <p:sp>
        <p:nvSpPr>
          <p:cNvPr id="9" name="Text 6"/>
          <p:cNvSpPr/>
          <p:nvPr/>
        </p:nvSpPr>
        <p:spPr>
          <a:xfrm>
            <a:off x="1097280" y="3383280"/>
            <a:ext cx="99943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EDF3F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任务进队列，</a:t>
            </a:r>
            <a:pPr algn="ctr" indent="0" marL="0">
              <a:buNone/>
            </a:pPr>
            <a:r>
              <a:rPr lang="en-US" sz="1700" b="1" dirty="0">
                <a:solidFill>
                  <a:srgbClr val="00AD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worker 自动认领</a:t>
            </a:r>
            <a:pPr algn="ctr" indent="0" marL="0">
              <a:buNone/>
            </a:pPr>
            <a:r>
              <a:rPr lang="en-US" sz="1700" dirty="0">
                <a:solidFill>
                  <a:srgbClr val="EDF3F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并调用 </a:t>
            </a:r>
            <a:pPr algn="ctr" indent="0" marL="0">
              <a:buNone/>
            </a:pPr>
            <a:r>
              <a:rPr lang="en-US" sz="1700" b="1" dirty="0">
                <a:solidFill>
                  <a:srgbClr val="D977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Claude CLI</a:t>
            </a:r>
            <a:pPr algn="ctr" indent="0" marL="0">
              <a:buNone/>
            </a:pPr>
            <a:r>
              <a:rPr lang="en-US" sz="1700" dirty="0">
                <a:solidFill>
                  <a:srgbClr val="EDF3F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执行，全程记账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1097280" y="3913632"/>
            <a:ext cx="99943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3A4B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一个用 Go + SQLite 实现的轻量 Agent 编排系统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822960" y="4526280"/>
            <a:ext cx="3108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0AD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769</a:t>
            </a:r>
            <a:endParaRPr lang="en-US" sz="2600" dirty="0"/>
          </a:p>
        </p:txBody>
      </p:sp>
      <p:sp>
        <p:nvSpPr>
          <p:cNvPr id="12" name="Text 9"/>
          <p:cNvSpPr/>
          <p:nvPr/>
        </p:nvSpPr>
        <p:spPr>
          <a:xfrm>
            <a:off x="822960" y="507492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3A4B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 Go 源码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4544568" y="4526280"/>
            <a:ext cx="3108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D977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2600" dirty="0"/>
          </a:p>
        </p:txBody>
      </p:sp>
      <p:sp>
        <p:nvSpPr>
          <p:cNvPr id="14" name="Text 11"/>
          <p:cNvSpPr/>
          <p:nvPr/>
        </p:nvSpPr>
        <p:spPr>
          <a:xfrm>
            <a:off x="4544568" y="507492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3A4B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课逐行完成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8266176" y="4526280"/>
            <a:ext cx="3108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600" dirty="0"/>
          </a:p>
        </p:txBody>
      </p:sp>
      <p:sp>
        <p:nvSpPr>
          <p:cNvPr id="16" name="Text 13"/>
          <p:cNvSpPr/>
          <p:nvPr/>
        </p:nvSpPr>
        <p:spPr>
          <a:xfrm>
            <a:off x="8266176" y="507492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3A4B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里程碑闭环达成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640080" y="641908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3A4B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MIT License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7772400" y="6419088"/>
            <a:ext cx="3776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3A4B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2026-08 · 教学项目 · 对标 Multica 架构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7FB"/>
          </a:solidFill>
          <a:ln/>
        </p:spPr>
      </p:sp>
      <p:sp>
        <p:nvSpPr>
          <p:cNvPr id="3" name="Shape 1"/>
          <p:cNvSpPr/>
          <p:nvPr/>
        </p:nvSpPr>
        <p:spPr>
          <a:xfrm>
            <a:off x="640080" y="457200"/>
            <a:ext cx="137160" cy="137160"/>
          </a:xfrm>
          <a:prstGeom prst="rect">
            <a:avLst/>
          </a:prstGeom>
          <a:solidFill>
            <a:srgbClr val="00ADD8"/>
          </a:solidFill>
          <a:ln/>
        </p:spPr>
      </p:sp>
      <p:sp>
        <p:nvSpPr>
          <p:cNvPr id="4" name="Text 2"/>
          <p:cNvSpPr/>
          <p:nvPr/>
        </p:nvSpPr>
        <p:spPr>
          <a:xfrm>
            <a:off x="896112" y="347472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0B8F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PROJECT OVERVIEW · 项目定位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40080" y="658368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01B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这是什么？为什么做它？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640080" y="1463040"/>
            <a:ext cx="539496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2700000">
              <a:srgbClr val="1B2A45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14400" y="1737360"/>
            <a:ext cx="475488" cy="475488"/>
          </a:xfrm>
          <a:prstGeom prst="ellipse">
            <a:avLst/>
          </a:prstGeom>
          <a:solidFill>
            <a:srgbClr val="00ADD8"/>
          </a:solidFill>
          <a:ln/>
        </p:spPr>
      </p:sp>
      <p:pic>
        <p:nvPicPr>
          <p:cNvPr id="8" name="Image 0" descr="C:\Users\WINDOWS\AppData\Local\Temp\mini-agents-ppt\icons\sparkles-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9007" y="1841967"/>
            <a:ext cx="266273" cy="266273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572768" y="1700784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1B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它是什么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932688" y="2304288"/>
            <a:ext cx="4846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A6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一个用 Go + SQLite 实现的单机版 Agent 编排工具：任务进队列，worker 自动认领并调用 Claude CLI 执行，全程记账。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640080" y="3611880"/>
            <a:ext cx="1700784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CE4F0"/>
            </a:solidFill>
            <a:prstDash val="solid"/>
          </a:ln>
          <a:effectLst>
            <a:outerShdw sx="100000" sy="100000" kx="0" ky="0" algn="bl" rotWithShape="0" blurRad="114300" dist="38100" dir="2700000">
              <a:srgbClr val="1B2A45">
                <a:alpha val="10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640080" y="3749040"/>
            <a:ext cx="17007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0B8FB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769</a:t>
            </a:r>
            <a:endParaRPr lang="en-US" sz="2100" dirty="0"/>
          </a:p>
        </p:txBody>
      </p:sp>
      <p:sp>
        <p:nvSpPr>
          <p:cNvPr id="13" name="Text 10"/>
          <p:cNvSpPr/>
          <p:nvPr/>
        </p:nvSpPr>
        <p:spPr>
          <a:xfrm>
            <a:off x="640080" y="4261104"/>
            <a:ext cx="17007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 Go 源码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2487168" y="3611880"/>
            <a:ext cx="1700784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CE4F0"/>
            </a:solidFill>
            <a:prstDash val="solid"/>
          </a:ln>
          <a:effectLst>
            <a:outerShdw sx="100000" sy="100000" kx="0" ky="0" algn="bl" rotWithShape="0" blurRad="114300" dist="38100" dir="2700000">
              <a:srgbClr val="1B2A45">
                <a:alpha val="10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2487168" y="3749040"/>
            <a:ext cx="17007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0B8FB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</a:t>
            </a:r>
            <a:endParaRPr lang="en-US" sz="2100" dirty="0"/>
          </a:p>
        </p:txBody>
      </p:sp>
      <p:sp>
        <p:nvSpPr>
          <p:cNvPr id="16" name="Text 13"/>
          <p:cNvSpPr/>
          <p:nvPr/>
        </p:nvSpPr>
        <p:spPr>
          <a:xfrm>
            <a:off x="2487168" y="4261104"/>
            <a:ext cx="17007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个数据操作方法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4334256" y="3611880"/>
            <a:ext cx="1700784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CE4F0"/>
            </a:solidFill>
            <a:prstDash val="solid"/>
          </a:ln>
          <a:effectLst>
            <a:outerShdw sx="100000" sy="100000" kx="0" ky="0" algn="bl" rotWithShape="0" blurRad="114300" dist="38100" dir="2700000">
              <a:srgbClr val="1B2A45">
                <a:alpha val="10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4334256" y="3749040"/>
            <a:ext cx="17007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0B8FB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100" dirty="0"/>
          </a:p>
        </p:txBody>
      </p:sp>
      <p:sp>
        <p:nvSpPr>
          <p:cNvPr id="19" name="Text 16"/>
          <p:cNvSpPr/>
          <p:nvPr/>
        </p:nvSpPr>
        <p:spPr>
          <a:xfrm>
            <a:off x="4334256" y="4261104"/>
            <a:ext cx="17007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个可执行程序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6309360" y="1463040"/>
            <a:ext cx="5239512" cy="265176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2700000">
              <a:srgbClr val="1B2A45">
                <a:alpha val="10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6583680" y="1737360"/>
            <a:ext cx="475488" cy="475488"/>
          </a:xfrm>
          <a:prstGeom prst="ellipse">
            <a:avLst/>
          </a:prstGeom>
          <a:solidFill>
            <a:srgbClr val="D97757"/>
          </a:solidFill>
          <a:ln/>
        </p:spPr>
      </p:sp>
      <p:pic>
        <p:nvPicPr>
          <p:cNvPr id="22" name="Image 1" descr="C:\Users\WINDOWS\AppData\Local\Temp\mini-agents-ppt\icons\graduationCap-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88287" y="1841967"/>
            <a:ext cx="266273" cy="266273"/>
          </a:xfrm>
          <a:prstGeom prst="rect">
            <a:avLst/>
          </a:prstGeom>
        </p:spPr>
      </p:pic>
      <p:sp>
        <p:nvSpPr>
          <p:cNvPr id="23" name="Text 19"/>
          <p:cNvSpPr/>
          <p:nvPr/>
        </p:nvSpPr>
        <p:spPr>
          <a:xfrm>
            <a:off x="7242048" y="1700784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1B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为什么做它</a:t>
            </a:r>
            <a:endParaRPr lang="en-US" sz="1600" dirty="0"/>
          </a:p>
        </p:txBody>
      </p:sp>
      <p:sp>
        <p:nvSpPr>
          <p:cNvPr id="24" name="Shape 20"/>
          <p:cNvSpPr/>
          <p:nvPr/>
        </p:nvSpPr>
        <p:spPr>
          <a:xfrm>
            <a:off x="6620256" y="2368296"/>
            <a:ext cx="118872" cy="118872"/>
          </a:xfrm>
          <a:prstGeom prst="rect">
            <a:avLst/>
          </a:prstGeom>
          <a:solidFill>
            <a:srgbClr val="00ADD8"/>
          </a:solidFill>
          <a:ln/>
        </p:spPr>
      </p:sp>
      <p:sp>
        <p:nvSpPr>
          <p:cNvPr id="25" name="Text 21"/>
          <p:cNvSpPr/>
          <p:nvPr/>
        </p:nvSpPr>
        <p:spPr>
          <a:xfrm>
            <a:off x="6876288" y="2304288"/>
            <a:ext cx="4526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01B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逐行学习　</a:t>
            </a:r>
            <a:pPr indent="0" marL="0">
              <a:buNone/>
            </a:pPr>
            <a:r>
              <a:rPr lang="en-US" sz="1150" dirty="0">
                <a:solidFill>
                  <a:srgbClr val="5A6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从零构建，代码里的每一行都讲清「为什么」</a:t>
            </a:r>
            <a:endParaRPr lang="en-US" sz="1150" dirty="0"/>
          </a:p>
        </p:txBody>
      </p:sp>
      <p:sp>
        <p:nvSpPr>
          <p:cNvPr id="26" name="Shape 22"/>
          <p:cNvSpPr/>
          <p:nvPr/>
        </p:nvSpPr>
        <p:spPr>
          <a:xfrm>
            <a:off x="6620256" y="2971800"/>
            <a:ext cx="118872" cy="118872"/>
          </a:xfrm>
          <a:prstGeom prst="rect">
            <a:avLst/>
          </a:prstGeom>
          <a:solidFill>
            <a:srgbClr val="00ADD8"/>
          </a:solidFill>
          <a:ln/>
        </p:spPr>
      </p:sp>
      <p:sp>
        <p:nvSpPr>
          <p:cNvPr id="27" name="Text 23"/>
          <p:cNvSpPr/>
          <p:nvPr/>
        </p:nvSpPr>
        <p:spPr>
          <a:xfrm>
            <a:off x="6876288" y="2907792"/>
            <a:ext cx="4526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01B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对标 Multica　</a:t>
            </a:r>
            <a:pPr indent="0" marL="0">
              <a:buNone/>
            </a:pPr>
            <a:r>
              <a:rPr lang="en-US" sz="1150" dirty="0">
                <a:solidFill>
                  <a:srgbClr val="5A6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理解多态 Agent + 异步写入的真实架构</a:t>
            </a:r>
            <a:endParaRPr lang="en-US" sz="1150" dirty="0"/>
          </a:p>
        </p:txBody>
      </p:sp>
      <p:sp>
        <p:nvSpPr>
          <p:cNvPr id="28" name="Shape 24"/>
          <p:cNvSpPr/>
          <p:nvPr/>
        </p:nvSpPr>
        <p:spPr>
          <a:xfrm>
            <a:off x="6620256" y="3575304"/>
            <a:ext cx="118872" cy="118872"/>
          </a:xfrm>
          <a:prstGeom prst="rect">
            <a:avLst/>
          </a:prstGeom>
          <a:solidFill>
            <a:srgbClr val="00ADD8"/>
          </a:solidFill>
          <a:ln/>
        </p:spPr>
      </p:sp>
      <p:sp>
        <p:nvSpPr>
          <p:cNvPr id="29" name="Text 25"/>
          <p:cNvSpPr/>
          <p:nvPr/>
        </p:nvSpPr>
        <p:spPr>
          <a:xfrm>
            <a:off x="6876288" y="3511296"/>
            <a:ext cx="4526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01B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真实执行　</a:t>
            </a:r>
            <a:pPr indent="0" marL="0">
              <a:buNone/>
            </a:pPr>
            <a:r>
              <a:rPr lang="en-US" sz="1150" dirty="0">
                <a:solidFill>
                  <a:srgbClr val="5A6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worker 真调 claude -p，结果入库可验证，不 mock</a:t>
            </a:r>
            <a:endParaRPr lang="en-US" sz="1150" dirty="0"/>
          </a:p>
        </p:txBody>
      </p:sp>
      <p:sp>
        <p:nvSpPr>
          <p:cNvPr id="30" name="Shape 26"/>
          <p:cNvSpPr/>
          <p:nvPr/>
        </p:nvSpPr>
        <p:spPr>
          <a:xfrm>
            <a:off x="6309360" y="4343400"/>
            <a:ext cx="5239512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2700000">
              <a:srgbClr val="1B2A45">
                <a:alpha val="10000"/>
              </a:srgbClr>
            </a:outerShdw>
          </a:effectLst>
        </p:spPr>
      </p:sp>
      <p:sp>
        <p:nvSpPr>
          <p:cNvPr id="31" name="Shape 27"/>
          <p:cNvSpPr/>
          <p:nvPr/>
        </p:nvSpPr>
        <p:spPr>
          <a:xfrm>
            <a:off x="6583680" y="4617720"/>
            <a:ext cx="457200" cy="457200"/>
          </a:xfrm>
          <a:prstGeom prst="ellipse">
            <a:avLst/>
          </a:prstGeom>
          <a:solidFill>
            <a:srgbClr val="E2F6FC"/>
          </a:solidFill>
          <a:ln/>
        </p:spPr>
      </p:sp>
      <p:pic>
        <p:nvPicPr>
          <p:cNvPr id="32" name="Image 2" descr="C:\Users\WINDOWS\AppData\Local\Temp\mini-agents-ppt\icons\package-teal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84264" y="4718304"/>
            <a:ext cx="256032" cy="256032"/>
          </a:xfrm>
          <a:prstGeom prst="rect">
            <a:avLst/>
          </a:prstGeom>
        </p:spPr>
      </p:pic>
      <p:sp>
        <p:nvSpPr>
          <p:cNvPr id="33" name="Text 28"/>
          <p:cNvSpPr/>
          <p:nvPr/>
        </p:nvSpPr>
        <p:spPr>
          <a:xfrm>
            <a:off x="7223760" y="4526280"/>
            <a:ext cx="4160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101B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设计取向　</a:t>
            </a:r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A6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单机优先 · 零 CGO · 纯 Go 驱动（modernc.org/sqlite）· 一键运行，跨平台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7FB"/>
          </a:solidFill>
          <a:ln/>
        </p:spPr>
      </p:sp>
      <p:sp>
        <p:nvSpPr>
          <p:cNvPr id="3" name="Shape 1"/>
          <p:cNvSpPr/>
          <p:nvPr/>
        </p:nvSpPr>
        <p:spPr>
          <a:xfrm>
            <a:off x="640080" y="457200"/>
            <a:ext cx="137160" cy="137160"/>
          </a:xfrm>
          <a:prstGeom prst="rect">
            <a:avLst/>
          </a:prstGeom>
          <a:solidFill>
            <a:srgbClr val="00ADD8"/>
          </a:solidFill>
          <a:ln/>
        </p:spPr>
      </p:sp>
      <p:sp>
        <p:nvSpPr>
          <p:cNvPr id="4" name="Text 2"/>
          <p:cNvSpPr/>
          <p:nvPr/>
        </p:nvSpPr>
        <p:spPr>
          <a:xfrm>
            <a:off x="896112" y="347472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0B8F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CORE FEATURES · 能力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40080" y="658368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01B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七大核心特性，一条完整流水线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640080" y="1417320"/>
            <a:ext cx="2521458" cy="2084832"/>
          </a:xfrm>
          <a:prstGeom prst="roundRect">
            <a:avLst>
              <a:gd name="adj" fmla="val 43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2700000">
              <a:srgbClr val="1B2A45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77824" y="1655064"/>
            <a:ext cx="457200" cy="457200"/>
          </a:xfrm>
          <a:prstGeom prst="ellipse">
            <a:avLst/>
          </a:prstGeom>
          <a:solidFill>
            <a:srgbClr val="00ADD8"/>
          </a:solidFill>
          <a:ln/>
        </p:spPr>
      </p:sp>
      <p:pic>
        <p:nvPicPr>
          <p:cNvPr id="8" name="Image 0" descr="C:\Users\WINDOWS\AppData\Local\Temp\mini-agents-ppt\icons\server-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8408" y="1755648"/>
            <a:ext cx="256032" cy="25603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463040" y="1691640"/>
            <a:ext cx="151561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1B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HTTP API 任务管理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877824" y="2313432"/>
            <a:ext cx="204597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000" dirty="0">
                <a:solidFill>
                  <a:srgbClr val="5A6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创建 / 查询任务，JSON 进出，内置校验与错误码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3435858" y="1417320"/>
            <a:ext cx="2521458" cy="2084832"/>
          </a:xfrm>
          <a:prstGeom prst="roundRect">
            <a:avLst>
              <a:gd name="adj" fmla="val 43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2700000">
              <a:srgbClr val="1B2A45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673602" y="1655064"/>
            <a:ext cx="457200" cy="457200"/>
          </a:xfrm>
          <a:prstGeom prst="ellipse">
            <a:avLst/>
          </a:prstGeom>
          <a:solidFill>
            <a:srgbClr val="00ADD8"/>
          </a:solidFill>
          <a:ln/>
        </p:spPr>
      </p:sp>
      <p:pic>
        <p:nvPicPr>
          <p:cNvPr id="13" name="Image 1" descr="C:\Users\WINDOWS\AppData\Local\Temp\mini-agents-ppt\icons\queue-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74186" y="1755648"/>
            <a:ext cx="256032" cy="256032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258818" y="1691640"/>
            <a:ext cx="151561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1B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队列 + 状态机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3673602" y="2313432"/>
            <a:ext cx="204597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000" dirty="0">
                <a:solidFill>
                  <a:srgbClr val="5A6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queued → dispatched → running → completed / failed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6231636" y="1417320"/>
            <a:ext cx="2521458" cy="2084832"/>
          </a:xfrm>
          <a:prstGeom prst="roundRect">
            <a:avLst>
              <a:gd name="adj" fmla="val 43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2700000">
              <a:srgbClr val="1B2A45">
                <a:alpha val="10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469380" y="1655064"/>
            <a:ext cx="457200" cy="457200"/>
          </a:xfrm>
          <a:prstGeom prst="ellipse">
            <a:avLst/>
          </a:prstGeom>
          <a:solidFill>
            <a:srgbClr val="00ADD8"/>
          </a:solidFill>
          <a:ln/>
        </p:spPr>
      </p:sp>
      <p:pic>
        <p:nvPicPr>
          <p:cNvPr id="18" name="Image 2" descr="C:\Users\WINDOWS\AppData\Local\Temp\mini-agents-ppt\icons\lock-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9964" y="1755648"/>
            <a:ext cx="256032" cy="256032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7054596" y="1691640"/>
            <a:ext cx="151561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1B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乐观锁认领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6469380" y="2313432"/>
            <a:ext cx="204597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000" dirty="0">
                <a:solidFill>
                  <a:srgbClr val="5A6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一条 UPDATE 原子完成「抢单 + 标记」，多 worker 不重复</a:t>
            </a:r>
            <a:endParaRPr lang="en-US" sz="1000" dirty="0"/>
          </a:p>
        </p:txBody>
      </p:sp>
      <p:sp>
        <p:nvSpPr>
          <p:cNvPr id="21" name="Shape 16"/>
          <p:cNvSpPr/>
          <p:nvPr/>
        </p:nvSpPr>
        <p:spPr>
          <a:xfrm>
            <a:off x="9027414" y="1417320"/>
            <a:ext cx="2521458" cy="2084832"/>
          </a:xfrm>
          <a:prstGeom prst="roundRect">
            <a:avLst>
              <a:gd name="adj" fmla="val 43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2700000">
              <a:srgbClr val="1B2A45">
                <a:alpha val="10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9265158" y="1655064"/>
            <a:ext cx="457200" cy="457200"/>
          </a:xfrm>
          <a:prstGeom prst="ellipse">
            <a:avLst/>
          </a:prstGeom>
          <a:solidFill>
            <a:srgbClr val="00ADD8"/>
          </a:solidFill>
          <a:ln/>
        </p:spPr>
      </p:sp>
      <p:pic>
        <p:nvPicPr>
          <p:cNvPr id="23" name="Image 3" descr="C:\Users\WINDOWS\AppData\Local\Temp\mini-agents-ppt\icons\shieldCheck-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65742" y="1755648"/>
            <a:ext cx="256032" cy="256032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9850374" y="1691640"/>
            <a:ext cx="151561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1B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幂等汇报</a:t>
            </a:r>
            <a:endParaRPr lang="en-US" sz="1300" dirty="0"/>
          </a:p>
        </p:txBody>
      </p:sp>
      <p:sp>
        <p:nvSpPr>
          <p:cNvPr id="25" name="Text 19"/>
          <p:cNvSpPr/>
          <p:nvPr/>
        </p:nvSpPr>
        <p:spPr>
          <a:xfrm>
            <a:off x="9265158" y="2313432"/>
            <a:ext cx="204597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000" dirty="0">
                <a:solidFill>
                  <a:srgbClr val="5A6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claim_token 凭证 + 状态校验，重复调用不破坏状态</a:t>
            </a:r>
            <a:endParaRPr lang="en-US" sz="1000" dirty="0"/>
          </a:p>
        </p:txBody>
      </p:sp>
      <p:sp>
        <p:nvSpPr>
          <p:cNvPr id="26" name="Shape 20"/>
          <p:cNvSpPr/>
          <p:nvPr/>
        </p:nvSpPr>
        <p:spPr>
          <a:xfrm>
            <a:off x="640080" y="3639312"/>
            <a:ext cx="2521458" cy="2084832"/>
          </a:xfrm>
          <a:prstGeom prst="roundRect">
            <a:avLst>
              <a:gd name="adj" fmla="val 43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2700000">
              <a:srgbClr val="1B2A45">
                <a:alpha val="10000"/>
              </a:srgbClr>
            </a:outerShdw>
          </a:effectLst>
        </p:spPr>
      </p:sp>
      <p:sp>
        <p:nvSpPr>
          <p:cNvPr id="27" name="Shape 21"/>
          <p:cNvSpPr/>
          <p:nvPr/>
        </p:nvSpPr>
        <p:spPr>
          <a:xfrm>
            <a:off x="877824" y="3877056"/>
            <a:ext cx="457200" cy="457200"/>
          </a:xfrm>
          <a:prstGeom prst="ellipse">
            <a:avLst/>
          </a:prstGeom>
          <a:solidFill>
            <a:srgbClr val="00ADD8"/>
          </a:solidFill>
          <a:ln/>
        </p:spPr>
      </p:sp>
      <p:pic>
        <p:nvPicPr>
          <p:cNvPr id="28" name="Image 4" descr="C:\Users\WINDOWS\AppData\Local\Temp\mini-agents-ppt\icons\bot-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8408" y="3977640"/>
            <a:ext cx="256032" cy="256032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1463040" y="3913632"/>
            <a:ext cx="151561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1B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真实 Agent 执行</a:t>
            </a:r>
            <a:endParaRPr lang="en-US" sz="1300" dirty="0"/>
          </a:p>
        </p:txBody>
      </p:sp>
      <p:sp>
        <p:nvSpPr>
          <p:cNvPr id="30" name="Text 23"/>
          <p:cNvSpPr/>
          <p:nvPr/>
        </p:nvSpPr>
        <p:spPr>
          <a:xfrm>
            <a:off x="877824" y="4535424"/>
            <a:ext cx="204597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000" dirty="0">
                <a:solidFill>
                  <a:srgbClr val="5A6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worker 调用 claude -p，带 2 分钟超时保护</a:t>
            </a:r>
            <a:endParaRPr lang="en-US" sz="1000" dirty="0"/>
          </a:p>
        </p:txBody>
      </p:sp>
      <p:sp>
        <p:nvSpPr>
          <p:cNvPr id="31" name="Shape 24"/>
          <p:cNvSpPr/>
          <p:nvPr/>
        </p:nvSpPr>
        <p:spPr>
          <a:xfrm>
            <a:off x="3435858" y="3639312"/>
            <a:ext cx="2521458" cy="2084832"/>
          </a:xfrm>
          <a:prstGeom prst="roundRect">
            <a:avLst>
              <a:gd name="adj" fmla="val 43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2700000">
              <a:srgbClr val="1B2A45">
                <a:alpha val="10000"/>
              </a:srgbClr>
            </a:outerShdw>
          </a:effectLst>
        </p:spPr>
      </p:sp>
      <p:sp>
        <p:nvSpPr>
          <p:cNvPr id="32" name="Shape 25"/>
          <p:cNvSpPr/>
          <p:nvPr/>
        </p:nvSpPr>
        <p:spPr>
          <a:xfrm>
            <a:off x="3673602" y="3877056"/>
            <a:ext cx="457200" cy="457200"/>
          </a:xfrm>
          <a:prstGeom prst="ellipse">
            <a:avLst/>
          </a:prstGeom>
          <a:solidFill>
            <a:srgbClr val="00ADD8"/>
          </a:solidFill>
          <a:ln/>
        </p:spPr>
      </p:sp>
      <p:pic>
        <p:nvPicPr>
          <p:cNvPr id="33" name="Image 5" descr="C:\Users\WINDOWS\AppData\Local\Temp\mini-agents-ppt\icons\clipboardList-whit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74186" y="3977640"/>
            <a:ext cx="256032" cy="256032"/>
          </a:xfrm>
          <a:prstGeom prst="rect">
            <a:avLst/>
          </a:prstGeom>
        </p:spPr>
      </p:pic>
      <p:sp>
        <p:nvSpPr>
          <p:cNvPr id="34" name="Text 26"/>
          <p:cNvSpPr/>
          <p:nvPr/>
        </p:nvSpPr>
        <p:spPr>
          <a:xfrm>
            <a:off x="4258818" y="3913632"/>
            <a:ext cx="151561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1B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全程记账</a:t>
            </a:r>
            <a:endParaRPr lang="en-US" sz="1300" dirty="0"/>
          </a:p>
        </p:txBody>
      </p:sp>
      <p:sp>
        <p:nvSpPr>
          <p:cNvPr id="35" name="Text 27"/>
          <p:cNvSpPr/>
          <p:nvPr/>
        </p:nvSpPr>
        <p:spPr>
          <a:xfrm>
            <a:off x="3673602" y="4535424"/>
            <a:ext cx="204597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000" dirty="0">
                <a:solidFill>
                  <a:srgbClr val="5A6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agent_runs 记录结果 / 耗时 / 退出码，可追溯</a:t>
            </a:r>
            <a:endParaRPr lang="en-US" sz="1000" dirty="0"/>
          </a:p>
        </p:txBody>
      </p:sp>
      <p:sp>
        <p:nvSpPr>
          <p:cNvPr id="36" name="Shape 28"/>
          <p:cNvSpPr/>
          <p:nvPr/>
        </p:nvSpPr>
        <p:spPr>
          <a:xfrm>
            <a:off x="6231636" y="3639312"/>
            <a:ext cx="2521458" cy="2084832"/>
          </a:xfrm>
          <a:prstGeom prst="roundRect">
            <a:avLst>
              <a:gd name="adj" fmla="val 43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2700000">
              <a:srgbClr val="1B2A45">
                <a:alpha val="10000"/>
              </a:srgbClr>
            </a:outerShdw>
          </a:effectLst>
        </p:spPr>
      </p:sp>
      <p:sp>
        <p:nvSpPr>
          <p:cNvPr id="37" name="Shape 29"/>
          <p:cNvSpPr/>
          <p:nvPr/>
        </p:nvSpPr>
        <p:spPr>
          <a:xfrm>
            <a:off x="6469380" y="3877056"/>
            <a:ext cx="457200" cy="457200"/>
          </a:xfrm>
          <a:prstGeom prst="ellipse">
            <a:avLst/>
          </a:prstGeom>
          <a:solidFill>
            <a:srgbClr val="00ADD8"/>
          </a:solidFill>
          <a:ln/>
        </p:spPr>
      </p:sp>
      <p:pic>
        <p:nvPicPr>
          <p:cNvPr id="38" name="Image 6" descr="C:\Users\WINDOWS\AppData\Local\Temp\mini-agents-ppt\icons\package-white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69964" y="3977640"/>
            <a:ext cx="256032" cy="256032"/>
          </a:xfrm>
          <a:prstGeom prst="rect">
            <a:avLst/>
          </a:prstGeom>
        </p:spPr>
      </p:pic>
      <p:sp>
        <p:nvSpPr>
          <p:cNvPr id="39" name="Text 30"/>
          <p:cNvSpPr/>
          <p:nvPr/>
        </p:nvSpPr>
        <p:spPr>
          <a:xfrm>
            <a:off x="7054596" y="3913632"/>
            <a:ext cx="151561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1B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零 CGO · 纯 Go</a:t>
            </a:r>
            <a:endParaRPr lang="en-US" sz="1300" dirty="0"/>
          </a:p>
        </p:txBody>
      </p:sp>
      <p:sp>
        <p:nvSpPr>
          <p:cNvPr id="40" name="Text 31"/>
          <p:cNvSpPr/>
          <p:nvPr/>
        </p:nvSpPr>
        <p:spPr>
          <a:xfrm>
            <a:off x="6469380" y="4535424"/>
            <a:ext cx="204597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000" dirty="0">
                <a:solidFill>
                  <a:srgbClr val="5A6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modernc.org/sqlite 驱动，跨平台，单机一键运行</a:t>
            </a:r>
            <a:endParaRPr lang="en-US" sz="1000" dirty="0"/>
          </a:p>
        </p:txBody>
      </p:sp>
      <p:sp>
        <p:nvSpPr>
          <p:cNvPr id="41" name="Shape 32"/>
          <p:cNvSpPr/>
          <p:nvPr/>
        </p:nvSpPr>
        <p:spPr>
          <a:xfrm>
            <a:off x="9027414" y="3639312"/>
            <a:ext cx="2521458" cy="2084832"/>
          </a:xfrm>
          <a:prstGeom prst="roundRect">
            <a:avLst>
              <a:gd name="adj" fmla="val 43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2700000">
              <a:srgbClr val="1B2A45">
                <a:alpha val="10000"/>
              </a:srgbClr>
            </a:outerShdw>
          </a:effectLst>
        </p:spPr>
      </p:sp>
      <p:sp>
        <p:nvSpPr>
          <p:cNvPr id="42" name="Shape 33"/>
          <p:cNvSpPr/>
          <p:nvPr/>
        </p:nvSpPr>
        <p:spPr>
          <a:xfrm>
            <a:off x="9265158" y="3877056"/>
            <a:ext cx="457200" cy="457200"/>
          </a:xfrm>
          <a:prstGeom prst="ellipse">
            <a:avLst/>
          </a:prstGeom>
          <a:solidFill>
            <a:srgbClr val="00ADD8"/>
          </a:solidFill>
          <a:ln/>
        </p:spPr>
      </p:sp>
      <p:pic>
        <p:nvPicPr>
          <p:cNvPr id="43" name="Image 7" descr="C:\Users\WINDOWS\AppData\Local\Temp\mini-agents-ppt\icons\terminal-white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365742" y="3977640"/>
            <a:ext cx="256032" cy="256032"/>
          </a:xfrm>
          <a:prstGeom prst="rect">
            <a:avLst/>
          </a:prstGeom>
        </p:spPr>
      </p:pic>
      <p:sp>
        <p:nvSpPr>
          <p:cNvPr id="44" name="Text 34"/>
          <p:cNvSpPr/>
          <p:nvPr/>
        </p:nvSpPr>
        <p:spPr>
          <a:xfrm>
            <a:off x="9850374" y="3913632"/>
            <a:ext cx="151561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1B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状态可观测</a:t>
            </a:r>
            <a:endParaRPr lang="en-US" sz="1300" dirty="0"/>
          </a:p>
        </p:txBody>
      </p:sp>
      <p:sp>
        <p:nvSpPr>
          <p:cNvPr id="45" name="Text 35"/>
          <p:cNvSpPr/>
          <p:nvPr/>
        </p:nvSpPr>
        <p:spPr>
          <a:xfrm>
            <a:off x="9265158" y="4535424"/>
            <a:ext cx="204597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000" dirty="0">
                <a:solidFill>
                  <a:srgbClr val="5A6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内置 dump 工具，一眼看清队列与执行日志</a:t>
            </a:r>
            <a:endParaRPr lang="en-US" sz="1000" dirty="0"/>
          </a:p>
        </p:txBody>
      </p:sp>
      <p:sp>
        <p:nvSpPr>
          <p:cNvPr id="46" name="Text 36"/>
          <p:cNvSpPr/>
          <p:nvPr/>
        </p:nvSpPr>
        <p:spPr>
          <a:xfrm>
            <a:off x="640080" y="5989320"/>
            <a:ext cx="10908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A6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跑起来只需要两个终端：一个启动 HTTP 服务，一个启动 worker。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7FB"/>
          </a:solidFill>
          <a:ln/>
        </p:spPr>
      </p:sp>
      <p:sp>
        <p:nvSpPr>
          <p:cNvPr id="3" name="Shape 1"/>
          <p:cNvSpPr/>
          <p:nvPr/>
        </p:nvSpPr>
        <p:spPr>
          <a:xfrm>
            <a:off x="640080" y="457200"/>
            <a:ext cx="137160" cy="137160"/>
          </a:xfrm>
          <a:prstGeom prst="rect">
            <a:avLst/>
          </a:prstGeom>
          <a:solidFill>
            <a:srgbClr val="00ADD8"/>
          </a:solidFill>
          <a:ln/>
        </p:spPr>
      </p:sp>
      <p:sp>
        <p:nvSpPr>
          <p:cNvPr id="4" name="Text 2"/>
          <p:cNvSpPr/>
          <p:nvPr/>
        </p:nvSpPr>
        <p:spPr>
          <a:xfrm>
            <a:off x="896112" y="347472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0B8F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SYSTEM ARCHITECTURE · 分层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40080" y="658368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01B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三层单向依赖，职责分离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640080" y="1463040"/>
            <a:ext cx="512064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2700000">
              <a:srgbClr val="1B2A45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96112" y="1755648"/>
            <a:ext cx="548640" cy="548640"/>
          </a:xfrm>
          <a:prstGeom prst="ellipse">
            <a:avLst/>
          </a:prstGeom>
          <a:solidFill>
            <a:srgbClr val="00ADD8"/>
          </a:solidFill>
          <a:ln/>
        </p:spPr>
      </p:sp>
      <p:pic>
        <p:nvPicPr>
          <p:cNvPr id="8" name="Image 0" descr="C:\Users\WINDOWS\AppData\Local\Temp\mini-agents-ppt\icons\server-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6813" y="1876349"/>
            <a:ext cx="307238" cy="30723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627632" y="1609344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1B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HTTP 层 · cmd/server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1627632" y="2084832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接待请求 · 翻译 JSON · 给状态码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859536" y="1152144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0B8F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L1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3017520" y="2688336"/>
            <a:ext cx="365760" cy="310896"/>
          </a:xfrm>
          <a:prstGeom prst="downArrow">
            <a:avLst/>
          </a:prstGeom>
          <a:solidFill>
            <a:srgbClr val="00ADD8"/>
          </a:solidFill>
          <a:ln/>
        </p:spPr>
      </p:sp>
      <p:sp>
        <p:nvSpPr>
          <p:cNvPr id="13" name="Shape 10"/>
          <p:cNvSpPr/>
          <p:nvPr/>
        </p:nvSpPr>
        <p:spPr>
          <a:xfrm>
            <a:off x="640080" y="3072384"/>
            <a:ext cx="512064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2700000">
              <a:srgbClr val="1B2A45">
                <a:alpha val="10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896112" y="3364992"/>
            <a:ext cx="548640" cy="548640"/>
          </a:xfrm>
          <a:prstGeom prst="ellipse">
            <a:avLst/>
          </a:prstGeom>
          <a:solidFill>
            <a:srgbClr val="00ADD8"/>
          </a:solidFill>
          <a:ln/>
        </p:spPr>
      </p:sp>
      <p:pic>
        <p:nvPicPr>
          <p:cNvPr id="15" name="Image 1" descr="C:\Users\WINDOWS\AppData\Local\Temp\mini-agents-ppt\icons\layers-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6813" y="3485693"/>
            <a:ext cx="307238" cy="307238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1627632" y="3218688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1B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数据层 · internal/store</a:t>
            </a:r>
            <a:endParaRPr lang="en-US" sz="1500" dirty="0"/>
          </a:p>
        </p:txBody>
      </p:sp>
      <p:sp>
        <p:nvSpPr>
          <p:cNvPr id="17" name="Text 13"/>
          <p:cNvSpPr/>
          <p:nvPr/>
        </p:nvSpPr>
        <p:spPr>
          <a:xfrm>
            <a:off x="1627632" y="3694176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所有 SQL 只在这一层 · 14 个操作方法</a:t>
            </a:r>
            <a:endParaRPr lang="en-US" sz="1050" dirty="0"/>
          </a:p>
        </p:txBody>
      </p:sp>
      <p:sp>
        <p:nvSpPr>
          <p:cNvPr id="18" name="Text 14"/>
          <p:cNvSpPr/>
          <p:nvPr/>
        </p:nvSpPr>
        <p:spPr>
          <a:xfrm>
            <a:off x="859536" y="2761488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0B8F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L2</a:t>
            </a:r>
            <a:endParaRPr lang="en-US" sz="1000" dirty="0"/>
          </a:p>
        </p:txBody>
      </p:sp>
      <p:sp>
        <p:nvSpPr>
          <p:cNvPr id="19" name="Shape 15"/>
          <p:cNvSpPr/>
          <p:nvPr/>
        </p:nvSpPr>
        <p:spPr>
          <a:xfrm>
            <a:off x="3017520" y="4297680"/>
            <a:ext cx="365760" cy="310896"/>
          </a:xfrm>
          <a:prstGeom prst="downArrow">
            <a:avLst/>
          </a:prstGeom>
          <a:solidFill>
            <a:srgbClr val="00ADD8"/>
          </a:solidFill>
          <a:ln/>
        </p:spPr>
      </p:sp>
      <p:sp>
        <p:nvSpPr>
          <p:cNvPr id="20" name="Shape 16"/>
          <p:cNvSpPr/>
          <p:nvPr/>
        </p:nvSpPr>
        <p:spPr>
          <a:xfrm>
            <a:off x="640080" y="4681728"/>
            <a:ext cx="512064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2700000">
              <a:srgbClr val="1B2A45">
                <a:alpha val="100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896112" y="4974336"/>
            <a:ext cx="548640" cy="548640"/>
          </a:xfrm>
          <a:prstGeom prst="ellipse">
            <a:avLst/>
          </a:prstGeom>
          <a:solidFill>
            <a:srgbClr val="00ADD8"/>
          </a:solidFill>
          <a:ln/>
        </p:spPr>
      </p:sp>
      <p:pic>
        <p:nvPicPr>
          <p:cNvPr id="22" name="Image 2" descr="C:\Users\WINDOWS\AppData\Local\Temp\mini-agents-ppt\icons\database-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6813" y="5095037"/>
            <a:ext cx="307238" cy="307238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1627632" y="4828032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1B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数据库 · SQLite</a:t>
            </a:r>
            <a:endParaRPr lang="en-US" sz="1500" dirty="0"/>
          </a:p>
        </p:txBody>
      </p:sp>
      <p:sp>
        <p:nvSpPr>
          <p:cNvPr id="24" name="Text 19"/>
          <p:cNvSpPr/>
          <p:nvPr/>
        </p:nvSpPr>
        <p:spPr>
          <a:xfrm>
            <a:off x="1627632" y="530352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issues / task_queue / agent_runs</a:t>
            </a:r>
            <a:endParaRPr lang="en-US" sz="1050" dirty="0"/>
          </a:p>
        </p:txBody>
      </p:sp>
      <p:sp>
        <p:nvSpPr>
          <p:cNvPr id="25" name="Text 20"/>
          <p:cNvSpPr/>
          <p:nvPr/>
        </p:nvSpPr>
        <p:spPr>
          <a:xfrm>
            <a:off x="859536" y="437083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0B8F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L3</a:t>
            </a:r>
            <a:endParaRPr lang="en-US" sz="1000" dirty="0"/>
          </a:p>
        </p:txBody>
      </p:sp>
      <p:sp>
        <p:nvSpPr>
          <p:cNvPr id="26" name="Shape 21"/>
          <p:cNvSpPr/>
          <p:nvPr/>
        </p:nvSpPr>
        <p:spPr>
          <a:xfrm>
            <a:off x="6126480" y="1463040"/>
            <a:ext cx="5422392" cy="27432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2700000">
              <a:srgbClr val="1B2A45">
                <a:alpha val="10000"/>
              </a:srgbClr>
            </a:outerShdw>
          </a:effectLst>
        </p:spPr>
      </p:sp>
      <p:sp>
        <p:nvSpPr>
          <p:cNvPr id="27" name="Shape 22"/>
          <p:cNvSpPr/>
          <p:nvPr/>
        </p:nvSpPr>
        <p:spPr>
          <a:xfrm>
            <a:off x="6400800" y="1737360"/>
            <a:ext cx="475488" cy="475488"/>
          </a:xfrm>
          <a:prstGeom prst="ellipse">
            <a:avLst/>
          </a:prstGeom>
          <a:solidFill>
            <a:srgbClr val="D97757"/>
          </a:solidFill>
          <a:ln/>
        </p:spPr>
      </p:sp>
      <p:pic>
        <p:nvPicPr>
          <p:cNvPr id="28" name="Image 3" descr="C:\Users\WINDOWS\AppData\Local\Temp\mini-agents-ppt\icons\terminal-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05407" y="1841967"/>
            <a:ext cx="266273" cy="266273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7059168" y="1700784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1B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Agent 执行器 · internal/agent</a:t>
            </a:r>
            <a:endParaRPr lang="en-US" sz="1500" dirty="0"/>
          </a:p>
        </p:txBody>
      </p:sp>
      <p:sp>
        <p:nvSpPr>
          <p:cNvPr id="30" name="Text 24"/>
          <p:cNvSpPr/>
          <p:nvPr/>
        </p:nvSpPr>
        <p:spPr>
          <a:xfrm>
            <a:off x="6437376" y="2331720"/>
            <a:ext cx="4892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A6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与数据层平级，由 worker 依赖注入——runner 只管执行，不碰数据库。</a:t>
            </a:r>
            <a:endParaRPr lang="en-US" sz="1100" dirty="0"/>
          </a:p>
        </p:txBody>
      </p:sp>
      <p:sp>
        <p:nvSpPr>
          <p:cNvPr id="31" name="Shape 25"/>
          <p:cNvSpPr/>
          <p:nvPr/>
        </p:nvSpPr>
        <p:spPr>
          <a:xfrm>
            <a:off x="6437376" y="3200400"/>
            <a:ext cx="758952" cy="457200"/>
          </a:xfrm>
          <a:prstGeom prst="roundRect">
            <a:avLst>
              <a:gd name="adj" fmla="val 28000"/>
            </a:avLst>
          </a:prstGeom>
          <a:solidFill>
            <a:srgbClr val="E2F6FC"/>
          </a:solidFill>
          <a:ln/>
        </p:spPr>
      </p:sp>
      <p:sp>
        <p:nvSpPr>
          <p:cNvPr id="32" name="Text 26"/>
          <p:cNvSpPr/>
          <p:nvPr/>
        </p:nvSpPr>
        <p:spPr>
          <a:xfrm>
            <a:off x="6437376" y="3200400"/>
            <a:ext cx="758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B8F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认领</a:t>
            </a:r>
            <a:endParaRPr lang="en-US" sz="950" dirty="0"/>
          </a:p>
        </p:txBody>
      </p:sp>
      <p:sp>
        <p:nvSpPr>
          <p:cNvPr id="33" name="Shape 27"/>
          <p:cNvSpPr/>
          <p:nvPr/>
        </p:nvSpPr>
        <p:spPr>
          <a:xfrm>
            <a:off x="7287768" y="3200400"/>
            <a:ext cx="758952" cy="457200"/>
          </a:xfrm>
          <a:prstGeom prst="roundRect">
            <a:avLst>
              <a:gd name="adj" fmla="val 28000"/>
            </a:avLst>
          </a:prstGeom>
          <a:solidFill>
            <a:srgbClr val="E2F6FC"/>
          </a:solidFill>
          <a:ln/>
        </p:spPr>
      </p:sp>
      <p:sp>
        <p:nvSpPr>
          <p:cNvPr id="34" name="Text 28"/>
          <p:cNvSpPr/>
          <p:nvPr/>
        </p:nvSpPr>
        <p:spPr>
          <a:xfrm>
            <a:off x="7287768" y="3200400"/>
            <a:ext cx="758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B8F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开工</a:t>
            </a:r>
            <a:endParaRPr lang="en-US" sz="950" dirty="0"/>
          </a:p>
        </p:txBody>
      </p:sp>
      <p:sp>
        <p:nvSpPr>
          <p:cNvPr id="35" name="Shape 29"/>
          <p:cNvSpPr/>
          <p:nvPr/>
        </p:nvSpPr>
        <p:spPr>
          <a:xfrm>
            <a:off x="8138160" y="3200400"/>
            <a:ext cx="758952" cy="457200"/>
          </a:xfrm>
          <a:prstGeom prst="roundRect">
            <a:avLst>
              <a:gd name="adj" fmla="val 28000"/>
            </a:avLst>
          </a:prstGeom>
          <a:solidFill>
            <a:srgbClr val="E2F6FC"/>
          </a:solidFill>
          <a:ln/>
        </p:spPr>
      </p:sp>
      <p:sp>
        <p:nvSpPr>
          <p:cNvPr id="36" name="Text 30"/>
          <p:cNvSpPr/>
          <p:nvPr/>
        </p:nvSpPr>
        <p:spPr>
          <a:xfrm>
            <a:off x="8138160" y="3200400"/>
            <a:ext cx="758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B8F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读任务</a:t>
            </a:r>
            <a:endParaRPr lang="en-US" sz="950" dirty="0"/>
          </a:p>
        </p:txBody>
      </p:sp>
      <p:sp>
        <p:nvSpPr>
          <p:cNvPr id="37" name="Shape 31"/>
          <p:cNvSpPr/>
          <p:nvPr/>
        </p:nvSpPr>
        <p:spPr>
          <a:xfrm>
            <a:off x="8988552" y="3200400"/>
            <a:ext cx="758952" cy="457200"/>
          </a:xfrm>
          <a:prstGeom prst="roundRect">
            <a:avLst>
              <a:gd name="adj" fmla="val 28000"/>
            </a:avLst>
          </a:prstGeom>
          <a:solidFill>
            <a:srgbClr val="E2F6FC"/>
          </a:solidFill>
          <a:ln/>
        </p:spPr>
      </p:sp>
      <p:sp>
        <p:nvSpPr>
          <p:cNvPr id="38" name="Text 32"/>
          <p:cNvSpPr/>
          <p:nvPr/>
        </p:nvSpPr>
        <p:spPr>
          <a:xfrm>
            <a:off x="8988552" y="3200400"/>
            <a:ext cx="758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B8F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调 claude</a:t>
            </a:r>
            <a:endParaRPr lang="en-US" sz="950" dirty="0"/>
          </a:p>
        </p:txBody>
      </p:sp>
      <p:sp>
        <p:nvSpPr>
          <p:cNvPr id="39" name="Shape 33"/>
          <p:cNvSpPr/>
          <p:nvPr/>
        </p:nvSpPr>
        <p:spPr>
          <a:xfrm>
            <a:off x="9838944" y="3200400"/>
            <a:ext cx="758952" cy="457200"/>
          </a:xfrm>
          <a:prstGeom prst="roundRect">
            <a:avLst>
              <a:gd name="adj" fmla="val 28000"/>
            </a:avLst>
          </a:prstGeom>
          <a:solidFill>
            <a:srgbClr val="E2F6FC"/>
          </a:solidFill>
          <a:ln/>
        </p:spPr>
      </p:sp>
      <p:sp>
        <p:nvSpPr>
          <p:cNvPr id="40" name="Text 34"/>
          <p:cNvSpPr/>
          <p:nvPr/>
        </p:nvSpPr>
        <p:spPr>
          <a:xfrm>
            <a:off x="9838944" y="3200400"/>
            <a:ext cx="758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B8F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记账</a:t>
            </a:r>
            <a:endParaRPr lang="en-US" sz="950" dirty="0"/>
          </a:p>
        </p:txBody>
      </p:sp>
      <p:sp>
        <p:nvSpPr>
          <p:cNvPr id="41" name="Shape 35"/>
          <p:cNvSpPr/>
          <p:nvPr/>
        </p:nvSpPr>
        <p:spPr>
          <a:xfrm>
            <a:off x="10689336" y="3200400"/>
            <a:ext cx="758952" cy="457200"/>
          </a:xfrm>
          <a:prstGeom prst="roundRect">
            <a:avLst>
              <a:gd name="adj" fmla="val 28000"/>
            </a:avLst>
          </a:prstGeom>
          <a:solidFill>
            <a:srgbClr val="E2F6FC"/>
          </a:solidFill>
          <a:ln/>
        </p:spPr>
      </p:sp>
      <p:sp>
        <p:nvSpPr>
          <p:cNvPr id="42" name="Text 36"/>
          <p:cNvSpPr/>
          <p:nvPr/>
        </p:nvSpPr>
        <p:spPr>
          <a:xfrm>
            <a:off x="10689336" y="3200400"/>
            <a:ext cx="758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B8F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汇报</a:t>
            </a:r>
            <a:endParaRPr lang="en-US" sz="950" dirty="0"/>
          </a:p>
        </p:txBody>
      </p:sp>
      <p:sp>
        <p:nvSpPr>
          <p:cNvPr id="43" name="Text 37"/>
          <p:cNvSpPr/>
          <p:nvPr/>
        </p:nvSpPr>
        <p:spPr>
          <a:xfrm>
            <a:off x="6437376" y="3730752"/>
            <a:ext cx="4892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A6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worker 死循环：认领 → 开工 → 读任务 → 调 claude → 记账 → 汇报</a:t>
            </a:r>
            <a:endParaRPr lang="en-US" sz="950" dirty="0"/>
          </a:p>
        </p:txBody>
      </p:sp>
      <p:sp>
        <p:nvSpPr>
          <p:cNvPr id="44" name="Shape 38"/>
          <p:cNvSpPr/>
          <p:nvPr/>
        </p:nvSpPr>
        <p:spPr>
          <a:xfrm>
            <a:off x="6126480" y="4480560"/>
            <a:ext cx="5422392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2700000">
              <a:srgbClr val="1B2A45">
                <a:alpha val="10000"/>
              </a:srgbClr>
            </a:outerShdw>
          </a:effectLst>
        </p:spPr>
      </p:sp>
      <p:sp>
        <p:nvSpPr>
          <p:cNvPr id="45" name="Shape 39"/>
          <p:cNvSpPr/>
          <p:nvPr/>
        </p:nvSpPr>
        <p:spPr>
          <a:xfrm>
            <a:off x="6400800" y="4754880"/>
            <a:ext cx="475488" cy="475488"/>
          </a:xfrm>
          <a:prstGeom prst="ellipse">
            <a:avLst/>
          </a:prstGeom>
          <a:solidFill>
            <a:srgbClr val="0E9F6E"/>
          </a:solidFill>
          <a:ln/>
        </p:spPr>
      </p:sp>
      <p:pic>
        <p:nvPicPr>
          <p:cNvPr id="46" name="Image 4" descr="C:\Users\WINDOWS\AppData\Local\Temp\mini-agents-ppt\icons\checkCircle-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05407" y="4859487"/>
            <a:ext cx="266273" cy="266273"/>
          </a:xfrm>
          <a:prstGeom prst="rect">
            <a:avLst/>
          </a:prstGeom>
        </p:spPr>
      </p:pic>
      <p:sp>
        <p:nvSpPr>
          <p:cNvPr id="47" name="Text 40"/>
          <p:cNvSpPr/>
          <p:nvPr/>
        </p:nvSpPr>
        <p:spPr>
          <a:xfrm>
            <a:off x="7059168" y="4663440"/>
            <a:ext cx="4343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101B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分层原则　</a:t>
            </a:r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A6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HTTP 层不知道 SQL，数据层不知道 HTTP——每层只依赖它的下一层，便于测试与替换。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7FB"/>
          </a:solidFill>
          <a:ln/>
        </p:spPr>
      </p:sp>
      <p:sp>
        <p:nvSpPr>
          <p:cNvPr id="3" name="Shape 1"/>
          <p:cNvSpPr/>
          <p:nvPr/>
        </p:nvSpPr>
        <p:spPr>
          <a:xfrm>
            <a:off x="640080" y="457200"/>
            <a:ext cx="137160" cy="137160"/>
          </a:xfrm>
          <a:prstGeom prst="rect">
            <a:avLst/>
          </a:prstGeom>
          <a:solidFill>
            <a:srgbClr val="00ADD8"/>
          </a:solidFill>
          <a:ln/>
        </p:spPr>
      </p:sp>
      <p:sp>
        <p:nvSpPr>
          <p:cNvPr id="4" name="Text 2"/>
          <p:cNvSpPr/>
          <p:nvPr/>
        </p:nvSpPr>
        <p:spPr>
          <a:xfrm>
            <a:off x="896112" y="347472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0B8F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TASK LIFECYCLE · 状态机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40080" y="658368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01B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一条任务的生命周期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914400" y="1417320"/>
            <a:ext cx="2011680" cy="822960"/>
          </a:xfrm>
          <a:prstGeom prst="roundRect">
            <a:avLst>
              <a:gd name="adj" fmla="val 13333"/>
            </a:avLst>
          </a:prstGeom>
          <a:solidFill>
            <a:srgbClr val="D9E0EA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150876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4653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queued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914400" y="189280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4653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已排队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2944368" y="1691640"/>
            <a:ext cx="329184" cy="274320"/>
          </a:xfrm>
          <a:prstGeom prst="rightArrow">
            <a:avLst/>
          </a:prstGeom>
          <a:solidFill>
            <a:srgbClr val="00ADD8"/>
          </a:solidFill>
          <a:ln/>
        </p:spPr>
      </p:sp>
      <p:sp>
        <p:nvSpPr>
          <p:cNvPr id="10" name="Shape 8"/>
          <p:cNvSpPr/>
          <p:nvPr/>
        </p:nvSpPr>
        <p:spPr>
          <a:xfrm>
            <a:off x="3383280" y="1417320"/>
            <a:ext cx="2011680" cy="822960"/>
          </a:xfrm>
          <a:prstGeom prst="roundRect">
            <a:avLst>
              <a:gd name="adj" fmla="val 13333"/>
            </a:avLst>
          </a:prstGeom>
          <a:solidFill>
            <a:srgbClr val="CFEBF6"/>
          </a:solidFill>
          <a:ln/>
        </p:spPr>
      </p:sp>
      <p:sp>
        <p:nvSpPr>
          <p:cNvPr id="11" name="Text 9"/>
          <p:cNvSpPr/>
          <p:nvPr/>
        </p:nvSpPr>
        <p:spPr>
          <a:xfrm>
            <a:off x="3383280" y="150876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B7F9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dispatched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3383280" y="189280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B7F9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已认领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5413248" y="1691640"/>
            <a:ext cx="329184" cy="274320"/>
          </a:xfrm>
          <a:prstGeom prst="rightArrow">
            <a:avLst/>
          </a:prstGeom>
          <a:solidFill>
            <a:srgbClr val="00ADD8"/>
          </a:solidFill>
          <a:ln/>
        </p:spPr>
      </p:sp>
      <p:sp>
        <p:nvSpPr>
          <p:cNvPr id="14" name="Shape 12"/>
          <p:cNvSpPr/>
          <p:nvPr/>
        </p:nvSpPr>
        <p:spPr>
          <a:xfrm>
            <a:off x="5852160" y="1417320"/>
            <a:ext cx="2011680" cy="822960"/>
          </a:xfrm>
          <a:prstGeom prst="roundRect">
            <a:avLst>
              <a:gd name="adj" fmla="val 13333"/>
            </a:avLst>
          </a:prstGeom>
          <a:solidFill>
            <a:srgbClr val="00ADD8"/>
          </a:solidFill>
          <a:ln/>
        </p:spPr>
      </p:sp>
      <p:sp>
        <p:nvSpPr>
          <p:cNvPr id="15" name="Text 13"/>
          <p:cNvSpPr/>
          <p:nvPr/>
        </p:nvSpPr>
        <p:spPr>
          <a:xfrm>
            <a:off x="5852160" y="150876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running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5852160" y="189280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执行中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7882128" y="1691640"/>
            <a:ext cx="329184" cy="274320"/>
          </a:xfrm>
          <a:prstGeom prst="rightArrow">
            <a:avLst/>
          </a:prstGeom>
          <a:solidFill>
            <a:srgbClr val="00ADD8"/>
          </a:solidFill>
          <a:ln/>
        </p:spPr>
      </p:sp>
      <p:sp>
        <p:nvSpPr>
          <p:cNvPr id="18" name="Shape 16"/>
          <p:cNvSpPr/>
          <p:nvPr/>
        </p:nvSpPr>
        <p:spPr>
          <a:xfrm>
            <a:off x="8321040" y="1417320"/>
            <a:ext cx="2011680" cy="822960"/>
          </a:xfrm>
          <a:prstGeom prst="roundRect">
            <a:avLst>
              <a:gd name="adj" fmla="val 13333"/>
            </a:avLst>
          </a:prstGeom>
          <a:solidFill>
            <a:srgbClr val="0E9F6E"/>
          </a:solidFill>
          <a:ln/>
        </p:spPr>
      </p:sp>
      <p:sp>
        <p:nvSpPr>
          <p:cNvPr id="19" name="Text 17"/>
          <p:cNvSpPr/>
          <p:nvPr/>
        </p:nvSpPr>
        <p:spPr>
          <a:xfrm>
            <a:off x="8321040" y="150876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completed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8321040" y="189280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已完成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6720840" y="2286000"/>
            <a:ext cx="457200" cy="274320"/>
          </a:xfrm>
          <a:prstGeom prst="downArrow">
            <a:avLst/>
          </a:prstGeom>
          <a:solidFill>
            <a:srgbClr val="D97757"/>
          </a:solidFill>
          <a:ln/>
        </p:spPr>
      </p:sp>
      <p:sp>
        <p:nvSpPr>
          <p:cNvPr id="22" name="Shape 20"/>
          <p:cNvSpPr/>
          <p:nvPr/>
        </p:nvSpPr>
        <p:spPr>
          <a:xfrm>
            <a:off x="5852160" y="2633472"/>
            <a:ext cx="2194560" cy="603504"/>
          </a:xfrm>
          <a:prstGeom prst="roundRect">
            <a:avLst>
              <a:gd name="adj" fmla="val 18182"/>
            </a:avLst>
          </a:prstGeom>
          <a:solidFill>
            <a:srgbClr val="D97757"/>
          </a:solidFill>
          <a:ln/>
        </p:spPr>
      </p:sp>
      <p:sp>
        <p:nvSpPr>
          <p:cNvPr id="23" name="Text 21"/>
          <p:cNvSpPr/>
          <p:nvPr/>
        </p:nvSpPr>
        <p:spPr>
          <a:xfrm>
            <a:off x="5852160" y="2633472"/>
            <a:ext cx="21945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failed · 执行失败 / 超时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640080" y="3456432"/>
            <a:ext cx="128016" cy="128016"/>
          </a:xfrm>
          <a:prstGeom prst="rect">
            <a:avLst/>
          </a:prstGeom>
          <a:solidFill>
            <a:srgbClr val="00ADD8"/>
          </a:solidFill>
          <a:ln/>
        </p:spPr>
      </p:sp>
      <p:sp>
        <p:nvSpPr>
          <p:cNvPr id="25" name="Text 23"/>
          <p:cNvSpPr/>
          <p:nvPr/>
        </p:nvSpPr>
        <p:spPr>
          <a:xfrm>
            <a:off x="859536" y="338328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01B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worker 六步闭环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640080" y="3767328"/>
            <a:ext cx="3511296" cy="1170432"/>
          </a:xfrm>
          <a:prstGeom prst="roundRect">
            <a:avLst>
              <a:gd name="adj" fmla="val 781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2700000">
              <a:srgbClr val="1B2A45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841248" y="4151376"/>
            <a:ext cx="402336" cy="402336"/>
          </a:xfrm>
          <a:prstGeom prst="ellipse">
            <a:avLst/>
          </a:prstGeom>
          <a:solidFill>
            <a:srgbClr val="00ADD8"/>
          </a:solidFill>
          <a:ln/>
        </p:spPr>
      </p:sp>
      <p:sp>
        <p:nvSpPr>
          <p:cNvPr id="28" name="Text 26"/>
          <p:cNvSpPr/>
          <p:nvPr/>
        </p:nvSpPr>
        <p:spPr>
          <a:xfrm>
            <a:off x="841248" y="415137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1389888" y="3968496"/>
            <a:ext cx="25968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1B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认领 · ClaimTask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1389888" y="4370832"/>
            <a:ext cx="25968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乐观锁抢到一条 queued 任务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4343400" y="3767328"/>
            <a:ext cx="3511296" cy="1170432"/>
          </a:xfrm>
          <a:prstGeom prst="roundRect">
            <a:avLst>
              <a:gd name="adj" fmla="val 781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2700000">
              <a:srgbClr val="1B2A45">
                <a:alpha val="1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544568" y="4151376"/>
            <a:ext cx="402336" cy="402336"/>
          </a:xfrm>
          <a:prstGeom prst="ellipse">
            <a:avLst/>
          </a:prstGeom>
          <a:solidFill>
            <a:srgbClr val="00ADD8"/>
          </a:solidFill>
          <a:ln/>
        </p:spPr>
      </p:sp>
      <p:sp>
        <p:nvSpPr>
          <p:cNvPr id="33" name="Text 31"/>
          <p:cNvSpPr/>
          <p:nvPr/>
        </p:nvSpPr>
        <p:spPr>
          <a:xfrm>
            <a:off x="4544568" y="415137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5093208" y="3968496"/>
            <a:ext cx="25968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1B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开工 · StartTask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5093208" y="4370832"/>
            <a:ext cx="25968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标记 running，记录开始时间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8046720" y="3767328"/>
            <a:ext cx="3511296" cy="1170432"/>
          </a:xfrm>
          <a:prstGeom prst="roundRect">
            <a:avLst>
              <a:gd name="adj" fmla="val 781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2700000">
              <a:srgbClr val="1B2A45">
                <a:alpha val="10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8247888" y="4151376"/>
            <a:ext cx="402336" cy="402336"/>
          </a:xfrm>
          <a:prstGeom prst="ellipse">
            <a:avLst/>
          </a:prstGeom>
          <a:solidFill>
            <a:srgbClr val="00ADD8"/>
          </a:solidFill>
          <a:ln/>
        </p:spPr>
      </p:sp>
      <p:sp>
        <p:nvSpPr>
          <p:cNvPr id="38" name="Text 36"/>
          <p:cNvSpPr/>
          <p:nvPr/>
        </p:nvSpPr>
        <p:spPr>
          <a:xfrm>
            <a:off x="8247888" y="415137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8796528" y="3968496"/>
            <a:ext cx="25968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1B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读任务 · GetIssue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8796528" y="4370832"/>
            <a:ext cx="25968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取任务内容，作为给 claude 的问题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640080" y="5047488"/>
            <a:ext cx="3511296" cy="1170432"/>
          </a:xfrm>
          <a:prstGeom prst="roundRect">
            <a:avLst>
              <a:gd name="adj" fmla="val 781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2700000">
              <a:srgbClr val="1B2A45">
                <a:alpha val="10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841248" y="5431536"/>
            <a:ext cx="402336" cy="402336"/>
          </a:xfrm>
          <a:prstGeom prst="ellipse">
            <a:avLst/>
          </a:prstGeom>
          <a:solidFill>
            <a:srgbClr val="00ADD8"/>
          </a:solidFill>
          <a:ln/>
        </p:spPr>
      </p:sp>
      <p:sp>
        <p:nvSpPr>
          <p:cNvPr id="43" name="Text 41"/>
          <p:cNvSpPr/>
          <p:nvPr/>
        </p:nvSpPr>
        <p:spPr>
          <a:xfrm>
            <a:off x="841248" y="543153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1389888" y="5248656"/>
            <a:ext cx="25968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1B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调 claude · Execute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1389888" y="5650992"/>
            <a:ext cx="25968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claude -p 执行，2 分钟超时保护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4343400" y="5047488"/>
            <a:ext cx="3511296" cy="1170432"/>
          </a:xfrm>
          <a:prstGeom prst="roundRect">
            <a:avLst>
              <a:gd name="adj" fmla="val 781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2700000">
              <a:srgbClr val="1B2A45">
                <a:alpha val="10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4544568" y="5431536"/>
            <a:ext cx="402336" cy="402336"/>
          </a:xfrm>
          <a:prstGeom prst="ellipse">
            <a:avLst/>
          </a:prstGeom>
          <a:solidFill>
            <a:srgbClr val="00ADD8"/>
          </a:solidFill>
          <a:ln/>
        </p:spPr>
      </p:sp>
      <p:sp>
        <p:nvSpPr>
          <p:cNvPr id="48" name="Text 46"/>
          <p:cNvSpPr/>
          <p:nvPr/>
        </p:nvSpPr>
        <p:spPr>
          <a:xfrm>
            <a:off x="4544568" y="543153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300" dirty="0"/>
          </a:p>
        </p:txBody>
      </p:sp>
      <p:sp>
        <p:nvSpPr>
          <p:cNvPr id="49" name="Text 47"/>
          <p:cNvSpPr/>
          <p:nvPr/>
        </p:nvSpPr>
        <p:spPr>
          <a:xfrm>
            <a:off x="5093208" y="5248656"/>
            <a:ext cx="25968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1B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记账 · RecordRun</a:t>
            </a:r>
            <a:endParaRPr lang="en-US" sz="1200" dirty="0"/>
          </a:p>
        </p:txBody>
      </p:sp>
      <p:sp>
        <p:nvSpPr>
          <p:cNvPr id="50" name="Text 48"/>
          <p:cNvSpPr/>
          <p:nvPr/>
        </p:nvSpPr>
        <p:spPr>
          <a:xfrm>
            <a:off x="5093208" y="5650992"/>
            <a:ext cx="25968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成败都写 agent_runs 留痕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8046720" y="5047488"/>
            <a:ext cx="3511296" cy="1170432"/>
          </a:xfrm>
          <a:prstGeom prst="roundRect">
            <a:avLst>
              <a:gd name="adj" fmla="val 781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2700000">
              <a:srgbClr val="1B2A45">
                <a:alpha val="10000"/>
              </a:srgbClr>
            </a:outerShdw>
          </a:effectLst>
        </p:spPr>
      </p:sp>
      <p:sp>
        <p:nvSpPr>
          <p:cNvPr id="52" name="Shape 50"/>
          <p:cNvSpPr/>
          <p:nvPr/>
        </p:nvSpPr>
        <p:spPr>
          <a:xfrm>
            <a:off x="8247888" y="5431536"/>
            <a:ext cx="402336" cy="402336"/>
          </a:xfrm>
          <a:prstGeom prst="ellipse">
            <a:avLst/>
          </a:prstGeom>
          <a:solidFill>
            <a:srgbClr val="00ADD8"/>
          </a:solidFill>
          <a:ln/>
        </p:spPr>
      </p:sp>
      <p:sp>
        <p:nvSpPr>
          <p:cNvPr id="53" name="Text 51"/>
          <p:cNvSpPr/>
          <p:nvPr/>
        </p:nvSpPr>
        <p:spPr>
          <a:xfrm>
            <a:off x="8247888" y="543153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300" dirty="0"/>
          </a:p>
        </p:txBody>
      </p:sp>
      <p:sp>
        <p:nvSpPr>
          <p:cNvPr id="54" name="Text 52"/>
          <p:cNvSpPr/>
          <p:nvPr/>
        </p:nvSpPr>
        <p:spPr>
          <a:xfrm>
            <a:off x="8796528" y="5248656"/>
            <a:ext cx="25968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1B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汇报 · Complete / Fail</a:t>
            </a:r>
            <a:endParaRPr lang="en-US" sz="1200" dirty="0"/>
          </a:p>
        </p:txBody>
      </p:sp>
      <p:sp>
        <p:nvSpPr>
          <p:cNvPr id="55" name="Text 53"/>
          <p:cNvSpPr/>
          <p:nvPr/>
        </p:nvSpPr>
        <p:spPr>
          <a:xfrm>
            <a:off x="8796528" y="5650992"/>
            <a:ext cx="25968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凭凭证对账，落到终态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7FB"/>
          </a:solidFill>
          <a:ln/>
        </p:spPr>
      </p:sp>
      <p:sp>
        <p:nvSpPr>
          <p:cNvPr id="3" name="Shape 1"/>
          <p:cNvSpPr/>
          <p:nvPr/>
        </p:nvSpPr>
        <p:spPr>
          <a:xfrm>
            <a:off x="640080" y="457200"/>
            <a:ext cx="137160" cy="137160"/>
          </a:xfrm>
          <a:prstGeom prst="rect">
            <a:avLst/>
          </a:prstGeom>
          <a:solidFill>
            <a:srgbClr val="00ADD8"/>
          </a:solidFill>
          <a:ln/>
        </p:spPr>
      </p:sp>
      <p:sp>
        <p:nvSpPr>
          <p:cNvPr id="4" name="Text 2"/>
          <p:cNvSpPr/>
          <p:nvPr/>
        </p:nvSpPr>
        <p:spPr>
          <a:xfrm>
            <a:off x="896112" y="347472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0B8F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DATA MODEL · 三表分工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40080" y="658368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01B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三张表，三个角色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640080" y="1554480"/>
            <a:ext cx="3511296" cy="3154680"/>
          </a:xfrm>
          <a:prstGeom prst="roundRect">
            <a:avLst>
              <a:gd name="adj" fmla="val 289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2700000">
              <a:srgbClr val="1B2A45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96112" y="1810512"/>
            <a:ext cx="475488" cy="475488"/>
          </a:xfrm>
          <a:prstGeom prst="ellipse">
            <a:avLst/>
          </a:prstGeom>
          <a:solidFill>
            <a:srgbClr val="00ADD8"/>
          </a:solidFill>
          <a:ln/>
        </p:spPr>
      </p:sp>
      <p:pic>
        <p:nvPicPr>
          <p:cNvPr id="8" name="Image 0" descr="C:\Users\WINDOWS\AppData\Local\Temp\mini-agents-ppt\icons\listChecks-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0719" y="1915119"/>
            <a:ext cx="266273" cy="266273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96112" y="2377440"/>
            <a:ext cx="29992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8F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issues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896112" y="2871216"/>
            <a:ext cx="29992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待办清单 · 人看「是什么」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896112" y="3273552"/>
            <a:ext cx="2999232" cy="969264"/>
          </a:xfrm>
          <a:prstGeom prst="roundRect">
            <a:avLst>
              <a:gd name="adj" fmla="val 7547"/>
            </a:avLst>
          </a:prstGeom>
          <a:solidFill>
            <a:srgbClr val="EEF3F9"/>
          </a:solidFill>
          <a:ln/>
        </p:spPr>
      </p:sp>
      <p:sp>
        <p:nvSpPr>
          <p:cNvPr id="12" name="Text 9"/>
          <p:cNvSpPr/>
          <p:nvPr/>
        </p:nvSpPr>
        <p:spPr>
          <a:xfrm>
            <a:off x="896112" y="3273552"/>
            <a:ext cx="2999232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3344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</a:t>
            </a:r>
            <a:endParaRPr lang="en-US" sz="9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3344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title</a:t>
            </a:r>
            <a:endParaRPr lang="en-US" sz="9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3344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description</a:t>
            </a:r>
            <a:endParaRPr lang="en-US" sz="9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3344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status</a:t>
            </a:r>
            <a:endParaRPr lang="en-US" sz="9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3344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assignee_type</a:t>
            </a:r>
            <a:endParaRPr lang="en-US" sz="9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3344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assignee_id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896112" y="4370832"/>
            <a:ext cx="29992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5A6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人类视角的任务清单，记录任务本身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4343400" y="1554480"/>
            <a:ext cx="3511296" cy="3154680"/>
          </a:xfrm>
          <a:prstGeom prst="roundRect">
            <a:avLst>
              <a:gd name="adj" fmla="val 289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2700000">
              <a:srgbClr val="1B2A45">
                <a:alpha val="10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4599432" y="1810512"/>
            <a:ext cx="475488" cy="475488"/>
          </a:xfrm>
          <a:prstGeom prst="ellipse">
            <a:avLst/>
          </a:prstGeom>
          <a:solidFill>
            <a:srgbClr val="00ADD8"/>
          </a:solidFill>
          <a:ln/>
        </p:spPr>
      </p:sp>
      <p:pic>
        <p:nvPicPr>
          <p:cNvPr id="16" name="Image 1" descr="C:\Users\WINDOWS\AppData\Local\Temp\mini-agents-ppt\icons\gitBranch-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4039" y="1915119"/>
            <a:ext cx="266273" cy="266273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4599432" y="2377440"/>
            <a:ext cx="29992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8F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task_queue</a:t>
            </a:r>
            <a:endParaRPr lang="en-US" sz="1600" dirty="0"/>
          </a:p>
        </p:txBody>
      </p:sp>
      <p:sp>
        <p:nvSpPr>
          <p:cNvPr id="18" name="Text 14"/>
          <p:cNvSpPr/>
          <p:nvPr/>
        </p:nvSpPr>
        <p:spPr>
          <a:xfrm>
            <a:off x="4599432" y="2871216"/>
            <a:ext cx="29992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执行流水线 · 机器看「做到哪一步」</a:t>
            </a:r>
            <a:endParaRPr lang="en-US" sz="1050" dirty="0"/>
          </a:p>
        </p:txBody>
      </p:sp>
      <p:sp>
        <p:nvSpPr>
          <p:cNvPr id="19" name="Shape 15"/>
          <p:cNvSpPr/>
          <p:nvPr/>
        </p:nvSpPr>
        <p:spPr>
          <a:xfrm>
            <a:off x="4599432" y="3273552"/>
            <a:ext cx="2999232" cy="969264"/>
          </a:xfrm>
          <a:prstGeom prst="roundRect">
            <a:avLst>
              <a:gd name="adj" fmla="val 7547"/>
            </a:avLst>
          </a:prstGeom>
          <a:solidFill>
            <a:srgbClr val="EEF3F9"/>
          </a:solidFill>
          <a:ln/>
        </p:spPr>
      </p:sp>
      <p:sp>
        <p:nvSpPr>
          <p:cNvPr id="20" name="Text 16"/>
          <p:cNvSpPr/>
          <p:nvPr/>
        </p:nvSpPr>
        <p:spPr>
          <a:xfrm>
            <a:off x="4599432" y="3273552"/>
            <a:ext cx="2999232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3344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</a:t>
            </a:r>
            <a:endParaRPr lang="en-US" sz="9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3344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issue_id</a:t>
            </a:r>
            <a:endParaRPr lang="en-US" sz="9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3344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status</a:t>
            </a:r>
            <a:endParaRPr lang="en-US" sz="9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3344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attempts</a:t>
            </a:r>
            <a:endParaRPr lang="en-US" sz="9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3344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claim_token</a:t>
            </a:r>
            <a:endParaRPr lang="en-US" sz="9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3344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worker_id</a:t>
            </a:r>
            <a:endParaRPr lang="en-US" sz="900" dirty="0"/>
          </a:p>
        </p:txBody>
      </p:sp>
      <p:sp>
        <p:nvSpPr>
          <p:cNvPr id="21" name="Text 17"/>
          <p:cNvSpPr/>
          <p:nvPr/>
        </p:nvSpPr>
        <p:spPr>
          <a:xfrm>
            <a:off x="4599432" y="4370832"/>
            <a:ext cx="29992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5A6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驱动 worker 认领与状态流转</a:t>
            </a:r>
            <a:endParaRPr lang="en-US" sz="950" dirty="0"/>
          </a:p>
        </p:txBody>
      </p:sp>
      <p:sp>
        <p:nvSpPr>
          <p:cNvPr id="22" name="Shape 18"/>
          <p:cNvSpPr/>
          <p:nvPr/>
        </p:nvSpPr>
        <p:spPr>
          <a:xfrm>
            <a:off x="8046720" y="1554480"/>
            <a:ext cx="3511296" cy="3154680"/>
          </a:xfrm>
          <a:prstGeom prst="roundRect">
            <a:avLst>
              <a:gd name="adj" fmla="val 289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2700000">
              <a:srgbClr val="1B2A45">
                <a:alpha val="10000"/>
              </a:srgbClr>
            </a:outerShdw>
          </a:effectLst>
        </p:spPr>
      </p:sp>
      <p:sp>
        <p:nvSpPr>
          <p:cNvPr id="23" name="Shape 19"/>
          <p:cNvSpPr/>
          <p:nvPr/>
        </p:nvSpPr>
        <p:spPr>
          <a:xfrm>
            <a:off x="8302752" y="1810512"/>
            <a:ext cx="475488" cy="475488"/>
          </a:xfrm>
          <a:prstGeom prst="ellipse">
            <a:avLst/>
          </a:prstGeom>
          <a:solidFill>
            <a:srgbClr val="00ADD8"/>
          </a:solidFill>
          <a:ln/>
        </p:spPr>
      </p:sp>
      <p:pic>
        <p:nvPicPr>
          <p:cNvPr id="24" name="Image 2" descr="C:\Users\WINDOWS\AppData\Local\Temp\mini-agents-ppt\icons\scrollText-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07359" y="1915119"/>
            <a:ext cx="266273" cy="266273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8302752" y="2377440"/>
            <a:ext cx="29992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8F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agent_runs</a:t>
            </a:r>
            <a:endParaRPr lang="en-US" sz="1600" dirty="0"/>
          </a:p>
        </p:txBody>
      </p:sp>
      <p:sp>
        <p:nvSpPr>
          <p:cNvPr id="26" name="Text 21"/>
          <p:cNvSpPr/>
          <p:nvPr/>
        </p:nvSpPr>
        <p:spPr>
          <a:xfrm>
            <a:off x="8302752" y="2871216"/>
            <a:ext cx="29992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记账本 · 事后查「干得怎么样」</a:t>
            </a:r>
            <a:endParaRPr lang="en-US" sz="1050" dirty="0"/>
          </a:p>
        </p:txBody>
      </p:sp>
      <p:sp>
        <p:nvSpPr>
          <p:cNvPr id="27" name="Shape 22"/>
          <p:cNvSpPr/>
          <p:nvPr/>
        </p:nvSpPr>
        <p:spPr>
          <a:xfrm>
            <a:off x="8302752" y="3273552"/>
            <a:ext cx="2999232" cy="969264"/>
          </a:xfrm>
          <a:prstGeom prst="roundRect">
            <a:avLst>
              <a:gd name="adj" fmla="val 7547"/>
            </a:avLst>
          </a:prstGeom>
          <a:solidFill>
            <a:srgbClr val="EEF3F9"/>
          </a:solidFill>
          <a:ln/>
        </p:spPr>
      </p:sp>
      <p:sp>
        <p:nvSpPr>
          <p:cNvPr id="28" name="Text 23"/>
          <p:cNvSpPr/>
          <p:nvPr/>
        </p:nvSpPr>
        <p:spPr>
          <a:xfrm>
            <a:off x="8302752" y="3273552"/>
            <a:ext cx="2999232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3344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</a:t>
            </a:r>
            <a:endParaRPr lang="en-US" sz="9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3344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task_id</a:t>
            </a:r>
            <a:endParaRPr lang="en-US" sz="9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3344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exit_code</a:t>
            </a:r>
            <a:endParaRPr lang="en-US" sz="9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3344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output</a:t>
            </a:r>
            <a:endParaRPr lang="en-US" sz="9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3344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duration_ms</a:t>
            </a:r>
            <a:endParaRPr lang="en-US" sz="900" dirty="0"/>
          </a:p>
        </p:txBody>
      </p:sp>
      <p:sp>
        <p:nvSpPr>
          <p:cNvPr id="29" name="Text 24"/>
          <p:cNvSpPr/>
          <p:nvPr/>
        </p:nvSpPr>
        <p:spPr>
          <a:xfrm>
            <a:off x="8302752" y="4370832"/>
            <a:ext cx="29992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5A6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执行留痕，成败都可追溯</a:t>
            </a:r>
            <a:endParaRPr lang="en-US" sz="950" dirty="0"/>
          </a:p>
        </p:txBody>
      </p:sp>
      <p:sp>
        <p:nvSpPr>
          <p:cNvPr id="30" name="Shape 25"/>
          <p:cNvSpPr/>
          <p:nvPr/>
        </p:nvSpPr>
        <p:spPr>
          <a:xfrm>
            <a:off x="640080" y="5074920"/>
            <a:ext cx="10908792" cy="1005840"/>
          </a:xfrm>
          <a:prstGeom prst="roundRect">
            <a:avLst>
              <a:gd name="adj" fmla="val 9091"/>
            </a:avLst>
          </a:prstGeom>
          <a:solidFill>
            <a:srgbClr val="E2F6FC"/>
          </a:solidFill>
          <a:ln/>
          <a:effectLst>
            <a:outerShdw sx="100000" sy="100000" kx="0" ky="0" algn="bl" rotWithShape="0" blurRad="114300" dist="38100" dir="2700000">
              <a:srgbClr val="1B2A45">
                <a:alpha val="10000"/>
              </a:srgbClr>
            </a:outerShdw>
          </a:effectLst>
        </p:spPr>
      </p:sp>
      <p:sp>
        <p:nvSpPr>
          <p:cNvPr id="31" name="Shape 26"/>
          <p:cNvSpPr/>
          <p:nvPr/>
        </p:nvSpPr>
        <p:spPr>
          <a:xfrm>
            <a:off x="896112" y="5376672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32" name="Image 3" descr="C:\Users\WINDOWS\AppData\Local\Temp\mini-agents-ppt\icons\link-teal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696" y="5477256"/>
            <a:ext cx="256032" cy="256032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1554480" y="5166360"/>
            <a:ext cx="9784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b="1" dirty="0">
                <a:solidFill>
                  <a:srgbClr val="101B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靠 id 关联，不用外键　</a:t>
            </a:r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A6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三张表通过 issue_id / task_id 在应用层关联——刻意不用数据库外键（参照 Multica 的生产教训：多态 + 异步写入难以用外键维护）。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7FB"/>
          </a:solidFill>
          <a:ln/>
        </p:spPr>
      </p:sp>
      <p:sp>
        <p:nvSpPr>
          <p:cNvPr id="3" name="Shape 1"/>
          <p:cNvSpPr/>
          <p:nvPr/>
        </p:nvSpPr>
        <p:spPr>
          <a:xfrm>
            <a:off x="640080" y="457200"/>
            <a:ext cx="137160" cy="137160"/>
          </a:xfrm>
          <a:prstGeom prst="rect">
            <a:avLst/>
          </a:prstGeom>
          <a:solidFill>
            <a:srgbClr val="00ADD8"/>
          </a:solidFill>
          <a:ln/>
        </p:spPr>
      </p:sp>
      <p:sp>
        <p:nvSpPr>
          <p:cNvPr id="4" name="Text 2"/>
          <p:cNvSpPr/>
          <p:nvPr/>
        </p:nvSpPr>
        <p:spPr>
          <a:xfrm>
            <a:off x="896112" y="347472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0B8F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ENGINEERING NOTES · 工程细节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40080" y="658368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01B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踩过的坑，都变成了知识点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640080" y="1417320"/>
            <a:ext cx="5358384" cy="1481328"/>
          </a:xfrm>
          <a:prstGeom prst="roundRect">
            <a:avLst>
              <a:gd name="adj" fmla="val 617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2700000">
              <a:srgbClr val="1B2A45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59536" y="1655064"/>
            <a:ext cx="420624" cy="420624"/>
          </a:xfrm>
          <a:prstGeom prst="ellipse">
            <a:avLst/>
          </a:prstGeom>
          <a:solidFill>
            <a:srgbClr val="00ADD8"/>
          </a:solidFill>
          <a:ln/>
        </p:spPr>
      </p:sp>
      <p:pic>
        <p:nvPicPr>
          <p:cNvPr id="8" name="Image 0" descr="C:\Users\WINDOWS\AppData\Local\Temp\mini-agents-ppt\icons\lock-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2073" y="1747601"/>
            <a:ext cx="235549" cy="235549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408176" y="1655064"/>
            <a:ext cx="43525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1B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乐观锁认领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1408176" y="2093976"/>
            <a:ext cx="435254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000" dirty="0">
                <a:solidFill>
                  <a:srgbClr val="5A6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一条 UPDATE … WHERE status=queued，靠 RowsAffected 判断，多 worker 不重复执行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6190488" y="1417320"/>
            <a:ext cx="5358384" cy="1481328"/>
          </a:xfrm>
          <a:prstGeom prst="roundRect">
            <a:avLst>
              <a:gd name="adj" fmla="val 617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2700000">
              <a:srgbClr val="1B2A45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409944" y="1655064"/>
            <a:ext cx="420624" cy="420624"/>
          </a:xfrm>
          <a:prstGeom prst="ellipse">
            <a:avLst/>
          </a:prstGeom>
          <a:solidFill>
            <a:srgbClr val="00ADD8"/>
          </a:solidFill>
          <a:ln/>
        </p:spPr>
      </p:sp>
      <p:pic>
        <p:nvPicPr>
          <p:cNvPr id="13" name="Image 1" descr="C:\Users\WINDOWS\AppData\Local\Temp\mini-agents-ppt\icons\repeat-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02481" y="1747601"/>
            <a:ext cx="235549" cy="235549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6958584" y="1655064"/>
            <a:ext cx="43525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1B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幂等汇报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6958584" y="2093976"/>
            <a:ext cx="435254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000" dirty="0">
                <a:solidFill>
                  <a:srgbClr val="5A6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完成 / 失败都校验 claim_token + 状态，重复调用不破坏状态机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640080" y="3127248"/>
            <a:ext cx="5358384" cy="1481328"/>
          </a:xfrm>
          <a:prstGeom prst="roundRect">
            <a:avLst>
              <a:gd name="adj" fmla="val 617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2700000">
              <a:srgbClr val="1B2A45">
                <a:alpha val="10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859536" y="3364992"/>
            <a:ext cx="420624" cy="420624"/>
          </a:xfrm>
          <a:prstGeom prst="ellipse">
            <a:avLst/>
          </a:prstGeom>
          <a:solidFill>
            <a:srgbClr val="00ADD8"/>
          </a:solidFill>
          <a:ln/>
        </p:spPr>
      </p:sp>
      <p:pic>
        <p:nvPicPr>
          <p:cNvPr id="18" name="Image 2" descr="C:\Users\WINDOWS\AppData\Local\Temp\mini-agents-ppt\icons\cpu-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2073" y="3457529"/>
            <a:ext cx="235549" cy="235549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408176" y="3364992"/>
            <a:ext cx="43525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1B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Windows 编码坑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1408176" y="3803904"/>
            <a:ext cx="435254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000" dirty="0">
                <a:solidFill>
                  <a:srgbClr val="5A6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直连 claude.exe 绕开 cmd shim，Go 以 UTF-16 传参，中文 prompt 无损</a:t>
            </a:r>
            <a:endParaRPr lang="en-US" sz="1000" dirty="0"/>
          </a:p>
        </p:txBody>
      </p:sp>
      <p:sp>
        <p:nvSpPr>
          <p:cNvPr id="21" name="Shape 16"/>
          <p:cNvSpPr/>
          <p:nvPr/>
        </p:nvSpPr>
        <p:spPr>
          <a:xfrm>
            <a:off x="6190488" y="3127248"/>
            <a:ext cx="5358384" cy="1481328"/>
          </a:xfrm>
          <a:prstGeom prst="roundRect">
            <a:avLst>
              <a:gd name="adj" fmla="val 617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2700000">
              <a:srgbClr val="1B2A45">
                <a:alpha val="10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6409944" y="3364992"/>
            <a:ext cx="420624" cy="420624"/>
          </a:xfrm>
          <a:prstGeom prst="ellipse">
            <a:avLst/>
          </a:prstGeom>
          <a:solidFill>
            <a:srgbClr val="00ADD8"/>
          </a:solidFill>
          <a:ln/>
        </p:spPr>
      </p:sp>
      <p:pic>
        <p:nvPicPr>
          <p:cNvPr id="23" name="Image 3" descr="C:\Users\WINDOWS\AppData\Local\Temp\mini-agents-ppt\icons\timer-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02481" y="3457529"/>
            <a:ext cx="235549" cy="235549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6958584" y="3364992"/>
            <a:ext cx="43525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1B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超时保护</a:t>
            </a:r>
            <a:endParaRPr lang="en-US" sz="1300" dirty="0"/>
          </a:p>
        </p:txBody>
      </p:sp>
      <p:sp>
        <p:nvSpPr>
          <p:cNvPr id="25" name="Text 19"/>
          <p:cNvSpPr/>
          <p:nvPr/>
        </p:nvSpPr>
        <p:spPr>
          <a:xfrm>
            <a:off x="6958584" y="3803904"/>
            <a:ext cx="435254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000" dirty="0">
                <a:solidFill>
                  <a:srgbClr val="5A6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context.WithTimeout + exec.CommandContext，claude 卡死 2 分钟自动收工</a:t>
            </a:r>
            <a:endParaRPr lang="en-US" sz="1000" dirty="0"/>
          </a:p>
        </p:txBody>
      </p:sp>
      <p:sp>
        <p:nvSpPr>
          <p:cNvPr id="26" name="Shape 20"/>
          <p:cNvSpPr/>
          <p:nvPr/>
        </p:nvSpPr>
        <p:spPr>
          <a:xfrm>
            <a:off x="640080" y="4837176"/>
            <a:ext cx="5358384" cy="1481328"/>
          </a:xfrm>
          <a:prstGeom prst="roundRect">
            <a:avLst>
              <a:gd name="adj" fmla="val 617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2700000">
              <a:srgbClr val="1B2A45">
                <a:alpha val="10000"/>
              </a:srgbClr>
            </a:outerShdw>
          </a:effectLst>
        </p:spPr>
      </p:sp>
      <p:sp>
        <p:nvSpPr>
          <p:cNvPr id="27" name="Shape 21"/>
          <p:cNvSpPr/>
          <p:nvPr/>
        </p:nvSpPr>
        <p:spPr>
          <a:xfrm>
            <a:off x="859536" y="5074920"/>
            <a:ext cx="420624" cy="420624"/>
          </a:xfrm>
          <a:prstGeom prst="ellipse">
            <a:avLst/>
          </a:prstGeom>
          <a:solidFill>
            <a:srgbClr val="00ADD8"/>
          </a:solidFill>
          <a:ln/>
        </p:spPr>
      </p:sp>
      <p:pic>
        <p:nvPicPr>
          <p:cNvPr id="28" name="Image 4" descr="C:\Users\WINDOWS\AppData\Local\Temp\mini-agents-ppt\icons\alertTriangle-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2073" y="5167457"/>
            <a:ext cx="235549" cy="235549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1408176" y="5074920"/>
            <a:ext cx="43525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1B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NULL ≠ 空串</a:t>
            </a:r>
            <a:endParaRPr lang="en-US" sz="1300" dirty="0"/>
          </a:p>
        </p:txBody>
      </p:sp>
      <p:sp>
        <p:nvSpPr>
          <p:cNvPr id="30" name="Text 23"/>
          <p:cNvSpPr/>
          <p:nvPr/>
        </p:nvSpPr>
        <p:spPr>
          <a:xfrm>
            <a:off x="1408176" y="5513832"/>
            <a:ext cx="435254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000" dirty="0">
                <a:solidFill>
                  <a:srgbClr val="5A6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可空列必须扫进 sql.NullString / NullTime，这是真实踩过的 bug</a:t>
            </a:r>
            <a:endParaRPr lang="en-US" sz="1000" dirty="0"/>
          </a:p>
        </p:txBody>
      </p:sp>
      <p:sp>
        <p:nvSpPr>
          <p:cNvPr id="31" name="Shape 24"/>
          <p:cNvSpPr/>
          <p:nvPr/>
        </p:nvSpPr>
        <p:spPr>
          <a:xfrm>
            <a:off x="6190488" y="4837176"/>
            <a:ext cx="5358384" cy="1481328"/>
          </a:xfrm>
          <a:prstGeom prst="roundRect">
            <a:avLst>
              <a:gd name="adj" fmla="val 617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2700000">
              <a:srgbClr val="1B2A45">
                <a:alpha val="10000"/>
              </a:srgbClr>
            </a:outerShdw>
          </a:effectLst>
        </p:spPr>
      </p:sp>
      <p:sp>
        <p:nvSpPr>
          <p:cNvPr id="32" name="Shape 25"/>
          <p:cNvSpPr/>
          <p:nvPr/>
        </p:nvSpPr>
        <p:spPr>
          <a:xfrm>
            <a:off x="6409944" y="5074920"/>
            <a:ext cx="420624" cy="420624"/>
          </a:xfrm>
          <a:prstGeom prst="ellipse">
            <a:avLst/>
          </a:prstGeom>
          <a:solidFill>
            <a:srgbClr val="00ADD8"/>
          </a:solidFill>
          <a:ln/>
        </p:spPr>
      </p:sp>
      <p:pic>
        <p:nvPicPr>
          <p:cNvPr id="33" name="Image 5" descr="C:\Users\WINDOWS\AppData\Local\Temp\mini-agents-ppt\icons\bookOpenCheck-whit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02481" y="5167457"/>
            <a:ext cx="235549" cy="235549"/>
          </a:xfrm>
          <a:prstGeom prst="rect">
            <a:avLst/>
          </a:prstGeom>
        </p:spPr>
      </p:pic>
      <p:sp>
        <p:nvSpPr>
          <p:cNvPr id="34" name="Text 26"/>
          <p:cNvSpPr/>
          <p:nvPr/>
        </p:nvSpPr>
        <p:spPr>
          <a:xfrm>
            <a:off x="6958584" y="5074920"/>
            <a:ext cx="43525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1B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失败也记账</a:t>
            </a:r>
            <a:endParaRPr lang="en-US" sz="1300" dirty="0"/>
          </a:p>
        </p:txBody>
      </p:sp>
      <p:sp>
        <p:nvSpPr>
          <p:cNvPr id="35" name="Text 27"/>
          <p:cNvSpPr/>
          <p:nvPr/>
        </p:nvSpPr>
        <p:spPr>
          <a:xfrm>
            <a:off x="6958584" y="5513832"/>
            <a:ext cx="435254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000" dirty="0">
                <a:solidFill>
                  <a:srgbClr val="5A6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执行失败同样写 agent_runs 留痕再标 failed；测试用 t.TempDir() 防句柄占用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7FB"/>
          </a:solidFill>
          <a:ln/>
        </p:spPr>
      </p:sp>
      <p:sp>
        <p:nvSpPr>
          <p:cNvPr id="3" name="Shape 1"/>
          <p:cNvSpPr/>
          <p:nvPr/>
        </p:nvSpPr>
        <p:spPr>
          <a:xfrm>
            <a:off x="640080" y="457200"/>
            <a:ext cx="137160" cy="137160"/>
          </a:xfrm>
          <a:prstGeom prst="rect">
            <a:avLst/>
          </a:prstGeom>
          <a:solidFill>
            <a:srgbClr val="00ADD8"/>
          </a:solidFill>
          <a:ln/>
        </p:spPr>
      </p:sp>
      <p:sp>
        <p:nvSpPr>
          <p:cNvPr id="4" name="Text 2"/>
          <p:cNvSpPr/>
          <p:nvPr/>
        </p:nvSpPr>
        <p:spPr>
          <a:xfrm>
            <a:off x="896112" y="347472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0B8F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ROADMAP · 进度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40080" y="658368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01B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三个里程碑达成，闭环已跑通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640080" y="1828800"/>
            <a:ext cx="2487168" cy="2468880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2700000">
              <a:srgbClr val="1B2A45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77824" y="2084832"/>
            <a:ext cx="457200" cy="457200"/>
          </a:xfrm>
          <a:prstGeom prst="ellipse">
            <a:avLst/>
          </a:prstGeom>
          <a:solidFill>
            <a:srgbClr val="00ADD8"/>
          </a:solidFill>
          <a:ln/>
        </p:spPr>
      </p:sp>
      <p:pic>
        <p:nvPicPr>
          <p:cNvPr id="8" name="Image 0" descr="C:\Users\WINDOWS\AppData\Local\Temp\mini-agents-ppt\icons\checkCircle-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8408" y="2185416"/>
            <a:ext cx="256032" cy="25603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481328" y="2121408"/>
            <a:ext cx="13898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01B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任务 CRUD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877824" y="267004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B8F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2026-08-06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877824" y="3035808"/>
            <a:ext cx="2011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5A6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HTTP + SQLite 持久化，POST / GET /api/issues 跑通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3172968" y="2999232"/>
            <a:ext cx="219456" cy="219456"/>
          </a:xfrm>
          <a:prstGeom prst="rightArrow">
            <a:avLst/>
          </a:prstGeom>
          <a:solidFill>
            <a:srgbClr val="A9B7CB"/>
          </a:solidFill>
          <a:ln/>
        </p:spPr>
      </p:sp>
      <p:sp>
        <p:nvSpPr>
          <p:cNvPr id="13" name="Shape 10"/>
          <p:cNvSpPr/>
          <p:nvPr/>
        </p:nvSpPr>
        <p:spPr>
          <a:xfrm>
            <a:off x="3447288" y="1828800"/>
            <a:ext cx="2487168" cy="2468880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2700000">
              <a:srgbClr val="1B2A45">
                <a:alpha val="10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3685032" y="2084832"/>
            <a:ext cx="457200" cy="457200"/>
          </a:xfrm>
          <a:prstGeom prst="ellipse">
            <a:avLst/>
          </a:prstGeom>
          <a:solidFill>
            <a:srgbClr val="00ADD8"/>
          </a:solidFill>
          <a:ln/>
        </p:spPr>
      </p:sp>
      <p:pic>
        <p:nvPicPr>
          <p:cNvPr id="15" name="Image 1" descr="C:\Users\WINDOWS\AppData\Local\Temp\mini-agents-ppt\icons\checkCircle-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85616" y="2185416"/>
            <a:ext cx="256032" cy="256032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4288536" y="2121408"/>
            <a:ext cx="13898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01B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队列 + worker</a:t>
            </a:r>
            <a:endParaRPr lang="en-US" sz="1350" dirty="0"/>
          </a:p>
        </p:txBody>
      </p:sp>
      <p:sp>
        <p:nvSpPr>
          <p:cNvPr id="17" name="Text 13"/>
          <p:cNvSpPr/>
          <p:nvPr/>
        </p:nvSpPr>
        <p:spPr>
          <a:xfrm>
            <a:off x="3685032" y="267004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B8F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2026-08-10</a:t>
            </a:r>
            <a:endParaRPr lang="en-US" sz="950" dirty="0"/>
          </a:p>
        </p:txBody>
      </p:sp>
      <p:sp>
        <p:nvSpPr>
          <p:cNvPr id="18" name="Text 14"/>
          <p:cNvSpPr/>
          <p:nvPr/>
        </p:nvSpPr>
        <p:spPr>
          <a:xfrm>
            <a:off x="3685032" y="3035808"/>
            <a:ext cx="2011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5A6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乐观锁认领 + 幂等汇报，worker 自动处理任务</a:t>
            </a:r>
            <a:endParaRPr lang="en-US" sz="1000" dirty="0"/>
          </a:p>
        </p:txBody>
      </p:sp>
      <p:sp>
        <p:nvSpPr>
          <p:cNvPr id="19" name="Shape 15"/>
          <p:cNvSpPr/>
          <p:nvPr/>
        </p:nvSpPr>
        <p:spPr>
          <a:xfrm>
            <a:off x="5980176" y="2999232"/>
            <a:ext cx="219456" cy="219456"/>
          </a:xfrm>
          <a:prstGeom prst="rightArrow">
            <a:avLst/>
          </a:prstGeom>
          <a:solidFill>
            <a:srgbClr val="A9B7CB"/>
          </a:solidFill>
          <a:ln/>
        </p:spPr>
      </p:sp>
      <p:sp>
        <p:nvSpPr>
          <p:cNvPr id="20" name="Shape 16"/>
          <p:cNvSpPr/>
          <p:nvPr/>
        </p:nvSpPr>
        <p:spPr>
          <a:xfrm>
            <a:off x="6254496" y="1828800"/>
            <a:ext cx="2487168" cy="2468880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2700000">
              <a:srgbClr val="1B2A45">
                <a:alpha val="100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6492240" y="2084832"/>
            <a:ext cx="457200" cy="457200"/>
          </a:xfrm>
          <a:prstGeom prst="ellipse">
            <a:avLst/>
          </a:prstGeom>
          <a:solidFill>
            <a:srgbClr val="00ADD8"/>
          </a:solidFill>
          <a:ln/>
        </p:spPr>
      </p:sp>
      <p:pic>
        <p:nvPicPr>
          <p:cNvPr id="22" name="Image 2" descr="C:\Users\WINDOWS\AppData\Local\Temp\mini-agents-ppt\icons\checkCircle-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92824" y="2185416"/>
            <a:ext cx="256032" cy="256032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7095744" y="2121408"/>
            <a:ext cx="13898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01B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真调 Claude</a:t>
            </a:r>
            <a:endParaRPr lang="en-US" sz="1350" dirty="0"/>
          </a:p>
        </p:txBody>
      </p:sp>
      <p:sp>
        <p:nvSpPr>
          <p:cNvPr id="24" name="Text 19"/>
          <p:cNvSpPr/>
          <p:nvPr/>
        </p:nvSpPr>
        <p:spPr>
          <a:xfrm>
            <a:off x="6492240" y="267004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B8F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2026-08-10</a:t>
            </a:r>
            <a:endParaRPr lang="en-US" sz="950" dirty="0"/>
          </a:p>
        </p:txBody>
      </p:sp>
      <p:sp>
        <p:nvSpPr>
          <p:cNvPr id="25" name="Text 20"/>
          <p:cNvSpPr/>
          <p:nvPr/>
        </p:nvSpPr>
        <p:spPr>
          <a:xfrm>
            <a:off x="6492240" y="3035808"/>
            <a:ext cx="2011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5A6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worker 调用 claude -p 执行，结果写入 agent_runs</a:t>
            </a:r>
            <a:endParaRPr lang="en-US" sz="1000" dirty="0"/>
          </a:p>
        </p:txBody>
      </p:sp>
      <p:sp>
        <p:nvSpPr>
          <p:cNvPr id="26" name="Shape 21"/>
          <p:cNvSpPr/>
          <p:nvPr/>
        </p:nvSpPr>
        <p:spPr>
          <a:xfrm>
            <a:off x="8787384" y="2999232"/>
            <a:ext cx="219456" cy="219456"/>
          </a:xfrm>
          <a:prstGeom prst="rightArrow">
            <a:avLst/>
          </a:prstGeom>
          <a:solidFill>
            <a:srgbClr val="A9B7CB"/>
          </a:solidFill>
          <a:ln/>
        </p:spPr>
      </p:sp>
      <p:sp>
        <p:nvSpPr>
          <p:cNvPr id="27" name="Shape 22"/>
          <p:cNvSpPr/>
          <p:nvPr/>
        </p:nvSpPr>
        <p:spPr>
          <a:xfrm>
            <a:off x="9061704" y="1828800"/>
            <a:ext cx="2487168" cy="2468880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2700000">
              <a:srgbClr val="1B2A45">
                <a:alpha val="10000"/>
              </a:srgbClr>
            </a:outerShdw>
          </a:effectLst>
        </p:spPr>
      </p:sp>
      <p:sp>
        <p:nvSpPr>
          <p:cNvPr id="28" name="Shape 23"/>
          <p:cNvSpPr/>
          <p:nvPr/>
        </p:nvSpPr>
        <p:spPr>
          <a:xfrm>
            <a:off x="9299448" y="2084832"/>
            <a:ext cx="457200" cy="457200"/>
          </a:xfrm>
          <a:prstGeom prst="ellipse">
            <a:avLst/>
          </a:prstGeom>
          <a:solidFill>
            <a:srgbClr val="AEB8C8"/>
          </a:solidFill>
          <a:ln/>
        </p:spPr>
      </p:sp>
      <p:pic>
        <p:nvPicPr>
          <p:cNvPr id="29" name="Image 3" descr="C:\Users\WINDOWS\AppData\Local\Temp\mini-agents-ppt\icons\flag-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00032" y="2185416"/>
            <a:ext cx="256032" cy="256032"/>
          </a:xfrm>
          <a:prstGeom prst="rect">
            <a:avLst/>
          </a:prstGeom>
        </p:spPr>
      </p:pic>
      <p:sp>
        <p:nvSpPr>
          <p:cNvPr id="30" name="Text 24"/>
          <p:cNvSpPr/>
          <p:nvPr/>
        </p:nvSpPr>
        <p:spPr>
          <a:xfrm>
            <a:off x="9902952" y="2121408"/>
            <a:ext cx="13898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01B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后续 · web 前端</a:t>
            </a:r>
            <a:endParaRPr lang="en-US" sz="1350" dirty="0"/>
          </a:p>
        </p:txBody>
      </p:sp>
      <p:sp>
        <p:nvSpPr>
          <p:cNvPr id="31" name="Text 25"/>
          <p:cNvSpPr/>
          <p:nvPr/>
        </p:nvSpPr>
        <p:spPr>
          <a:xfrm>
            <a:off x="9299448" y="267004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B8F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计划中</a:t>
            </a:r>
            <a:endParaRPr lang="en-US" sz="950" dirty="0"/>
          </a:p>
        </p:txBody>
      </p:sp>
      <p:sp>
        <p:nvSpPr>
          <p:cNvPr id="32" name="Text 26"/>
          <p:cNvSpPr/>
          <p:nvPr/>
        </p:nvSpPr>
        <p:spPr>
          <a:xfrm>
            <a:off x="9299448" y="3035808"/>
            <a:ext cx="2011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5A6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web 前端 / 多 worker 并发验证 / 失败重试（attempts）</a:t>
            </a:r>
            <a:endParaRPr lang="en-US" sz="1000" dirty="0"/>
          </a:p>
        </p:txBody>
      </p:sp>
      <p:sp>
        <p:nvSpPr>
          <p:cNvPr id="33" name="Shape 27"/>
          <p:cNvSpPr/>
          <p:nvPr/>
        </p:nvSpPr>
        <p:spPr>
          <a:xfrm>
            <a:off x="640080" y="4709160"/>
            <a:ext cx="10908792" cy="1097280"/>
          </a:xfrm>
          <a:prstGeom prst="roundRect">
            <a:avLst>
              <a:gd name="adj" fmla="val 8333"/>
            </a:avLst>
          </a:prstGeom>
          <a:solidFill>
            <a:srgbClr val="E4F6EF"/>
          </a:solidFill>
          <a:ln/>
          <a:effectLst>
            <a:outerShdw sx="100000" sy="100000" kx="0" ky="0" algn="bl" rotWithShape="0" blurRad="114300" dist="38100" dir="2700000">
              <a:srgbClr val="1B2A45">
                <a:alpha val="10000"/>
              </a:srgbClr>
            </a:outerShdw>
          </a:effectLst>
        </p:spPr>
      </p:sp>
      <p:sp>
        <p:nvSpPr>
          <p:cNvPr id="34" name="Shape 28"/>
          <p:cNvSpPr/>
          <p:nvPr/>
        </p:nvSpPr>
        <p:spPr>
          <a:xfrm>
            <a:off x="896112" y="5029200"/>
            <a:ext cx="457200" cy="457200"/>
          </a:xfrm>
          <a:prstGeom prst="ellipse">
            <a:avLst/>
          </a:prstGeom>
          <a:solidFill>
            <a:srgbClr val="0E9F6E"/>
          </a:solidFill>
          <a:ln/>
        </p:spPr>
      </p:sp>
      <p:pic>
        <p:nvPicPr>
          <p:cNvPr id="35" name="Image 4" descr="C:\Users\WINDOWS\AppData\Local\Temp\mini-agents-ppt\icons\checkCircle-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6696" y="5129784"/>
            <a:ext cx="256032" cy="256032"/>
          </a:xfrm>
          <a:prstGeom prst="rect">
            <a:avLst/>
          </a:prstGeom>
        </p:spPr>
      </p:pic>
      <p:sp>
        <p:nvSpPr>
          <p:cNvPr id="36" name="Text 29"/>
          <p:cNvSpPr/>
          <p:nvPr/>
        </p:nvSpPr>
        <p:spPr>
          <a:xfrm>
            <a:off x="1554480" y="4846320"/>
            <a:ext cx="9784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b="1" dirty="0">
                <a:solidFill>
                  <a:srgbClr val="101B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核心闭环已跑通　</a:t>
            </a:r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A6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HTTP 建任务 → worker 认领 → claude 执行 → 结果入库。8 课逐行完成，全链路可运行、可验证、可教学。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7FB"/>
          </a:solidFill>
          <a:ln/>
        </p:spPr>
      </p:sp>
      <p:sp>
        <p:nvSpPr>
          <p:cNvPr id="3" name="Shape 1"/>
          <p:cNvSpPr/>
          <p:nvPr/>
        </p:nvSpPr>
        <p:spPr>
          <a:xfrm>
            <a:off x="640080" y="457200"/>
            <a:ext cx="137160" cy="137160"/>
          </a:xfrm>
          <a:prstGeom prst="rect">
            <a:avLst/>
          </a:prstGeom>
          <a:solidFill>
            <a:srgbClr val="00ADD8"/>
          </a:solidFill>
          <a:ln/>
        </p:spPr>
      </p:sp>
      <p:sp>
        <p:nvSpPr>
          <p:cNvPr id="4" name="Text 2"/>
          <p:cNvSpPr/>
          <p:nvPr/>
        </p:nvSpPr>
        <p:spPr>
          <a:xfrm>
            <a:off x="896112" y="347472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0B8F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QUICK START · 上手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40080" y="658368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01B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三个命令跑起来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640080" y="1463040"/>
            <a:ext cx="4937760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2700000">
              <a:srgbClr val="1B2A45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14400" y="1737360"/>
            <a:ext cx="457200" cy="457200"/>
          </a:xfrm>
          <a:prstGeom prst="ellipse">
            <a:avLst/>
          </a:prstGeom>
          <a:solidFill>
            <a:srgbClr val="00ADD8"/>
          </a:solidFill>
          <a:ln/>
        </p:spPr>
      </p:sp>
      <p:pic>
        <p:nvPicPr>
          <p:cNvPr id="8" name="Image 0" descr="C:\Users\WINDOWS\AppData\Local\Temp\mini-agents-ppt\icons\package-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4984" y="1837944"/>
            <a:ext cx="256032" cy="25603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572768" y="1664208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1B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前置要求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932688" y="2176272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A6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Go 1.26+（必需的运行时）；Claude CLI（可选——装了 worker 才会真执行，否则跳过）。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640080" y="2971800"/>
            <a:ext cx="4937760" cy="2834640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2700000">
              <a:srgbClr val="1B2A45">
                <a:alpha val="10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914400" y="320040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1B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三步跑起来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914400" y="3730752"/>
            <a:ext cx="384048" cy="384048"/>
          </a:xfrm>
          <a:prstGeom prst="ellipse">
            <a:avLst/>
          </a:prstGeom>
          <a:solidFill>
            <a:srgbClr val="00ADD8"/>
          </a:solidFill>
          <a:ln/>
        </p:spPr>
      </p:sp>
      <p:sp>
        <p:nvSpPr>
          <p:cNvPr id="14" name="Text 11"/>
          <p:cNvSpPr/>
          <p:nvPr/>
        </p:nvSpPr>
        <p:spPr>
          <a:xfrm>
            <a:off x="914400" y="37307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1463040" y="370332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1B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clone + cd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1463040" y="4041648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拉取代码，进入项目目录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914400" y="4389120"/>
            <a:ext cx="384048" cy="384048"/>
          </a:xfrm>
          <a:prstGeom prst="ellipse">
            <a:avLst/>
          </a:prstGeom>
          <a:solidFill>
            <a:srgbClr val="00ADD8"/>
          </a:solidFill>
          <a:ln/>
        </p:spPr>
      </p:sp>
      <p:sp>
        <p:nvSpPr>
          <p:cNvPr id="18" name="Text 15"/>
          <p:cNvSpPr/>
          <p:nvPr/>
        </p:nvSpPr>
        <p:spPr>
          <a:xfrm>
            <a:off x="914400" y="43891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1463040" y="4361688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1B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go build ./...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1463040" y="4700016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首次自动下载依赖，编译通过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914400" y="5047488"/>
            <a:ext cx="384048" cy="384048"/>
          </a:xfrm>
          <a:prstGeom prst="ellipse">
            <a:avLst/>
          </a:prstGeom>
          <a:solidFill>
            <a:srgbClr val="00ADD8"/>
          </a:solidFill>
          <a:ln/>
        </p:spPr>
      </p:sp>
      <p:sp>
        <p:nvSpPr>
          <p:cNvPr id="22" name="Text 19"/>
          <p:cNvSpPr/>
          <p:nvPr/>
        </p:nvSpPr>
        <p:spPr>
          <a:xfrm>
            <a:off x="914400" y="50474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1463040" y="5020056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1B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双终端启动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1463040" y="5358384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A：go run ./cmd/server（:8080）；B：go run ./cmd/worker（自动认领干活）</a:t>
            </a:r>
            <a:endParaRPr lang="en-US" sz="950" dirty="0"/>
          </a:p>
        </p:txBody>
      </p:sp>
      <p:sp>
        <p:nvSpPr>
          <p:cNvPr id="25" name="Shape 22"/>
          <p:cNvSpPr/>
          <p:nvPr/>
        </p:nvSpPr>
        <p:spPr>
          <a:xfrm>
            <a:off x="5852160" y="1463040"/>
            <a:ext cx="5696712" cy="4343400"/>
          </a:xfrm>
          <a:prstGeom prst="roundRect">
            <a:avLst>
              <a:gd name="adj" fmla="val 2526"/>
            </a:avLst>
          </a:prstGeom>
          <a:solidFill>
            <a:srgbClr val="101B2E"/>
          </a:solidFill>
          <a:ln/>
          <a:effectLst>
            <a:outerShdw sx="100000" sy="100000" kx="0" ky="0" algn="bl" rotWithShape="0" blurRad="152400" dist="38100" dir="2700000">
              <a:srgbClr val="1B2A45">
                <a:alpha val="14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6144768" y="1719072"/>
            <a:ext cx="146304" cy="146304"/>
          </a:xfrm>
          <a:prstGeom prst="ellipse">
            <a:avLst/>
          </a:prstGeom>
          <a:solidFill>
            <a:srgbClr val="F26D5B"/>
          </a:solidFill>
          <a:ln/>
        </p:spPr>
      </p:sp>
      <p:sp>
        <p:nvSpPr>
          <p:cNvPr id="27" name="Shape 24"/>
          <p:cNvSpPr/>
          <p:nvPr/>
        </p:nvSpPr>
        <p:spPr>
          <a:xfrm>
            <a:off x="6419088" y="1719072"/>
            <a:ext cx="146304" cy="146304"/>
          </a:xfrm>
          <a:prstGeom prst="ellipse">
            <a:avLst/>
          </a:prstGeom>
          <a:solidFill>
            <a:srgbClr val="E0B84C"/>
          </a:solidFill>
          <a:ln/>
        </p:spPr>
      </p:sp>
      <p:sp>
        <p:nvSpPr>
          <p:cNvPr id="28" name="Shape 25"/>
          <p:cNvSpPr/>
          <p:nvPr/>
        </p:nvSpPr>
        <p:spPr>
          <a:xfrm>
            <a:off x="6693408" y="1719072"/>
            <a:ext cx="146304" cy="146304"/>
          </a:xfrm>
          <a:prstGeom prst="ellipse">
            <a:avLst/>
          </a:prstGeom>
          <a:solidFill>
            <a:srgbClr val="3FA37C"/>
          </a:solidFill>
          <a:ln/>
        </p:spPr>
      </p:sp>
      <p:sp>
        <p:nvSpPr>
          <p:cNvPr id="29" name="Text 26"/>
          <p:cNvSpPr/>
          <p:nvPr/>
        </p:nvSpPr>
        <p:spPr>
          <a:xfrm>
            <a:off x="6949440" y="166420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3A4B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终端 · HTTP API + worker 日志</a:t>
            </a:r>
            <a:endParaRPr lang="en-US" sz="1000" dirty="0"/>
          </a:p>
        </p:txBody>
      </p:sp>
      <p:sp>
        <p:nvSpPr>
          <p:cNvPr id="30" name="Text 27"/>
          <p:cNvSpPr/>
          <p:nvPr/>
        </p:nvSpPr>
        <p:spPr>
          <a:xfrm>
            <a:off x="6172200" y="2148840"/>
            <a:ext cx="507492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2000"/>
              </a:lnSpc>
              <a:buNone/>
            </a:pPr>
            <a:r>
              <a:rPr lang="en-US" sz="1000" b="1" dirty="0">
                <a:solidFill>
                  <a:srgbClr val="7FC8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── 终端 A · 创建任务</a:t>
            </a:r>
            <a:pPr indent="0" marL="0">
              <a:lnSpc>
                <a:spcPct val="132000"/>
              </a:lnSpc>
              <a:buNone/>
            </a:pPr>
            <a:r>
              <a:rPr lang="en-US" sz="1000" dirty="0">
                <a:solidFill>
                  <a:srgbClr val="EDF3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curl -X POST http://localhost:8080/api/issues \</a:t>
            </a:r>
            <a:pPr indent="0" marL="0">
              <a:lnSpc>
                <a:spcPct val="132000"/>
              </a:lnSpc>
              <a:buNone/>
            </a:pPr>
            <a:r>
              <a:rPr lang="en-US" sz="1000" dirty="0">
                <a:solidFill>
                  <a:srgbClr val="EDF3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-H "Content-Type: application/json" \</a:t>
            </a:r>
            <a:pPr indent="0" marL="0">
              <a:lnSpc>
                <a:spcPct val="132000"/>
              </a:lnSpc>
              <a:buNone/>
            </a:pPr>
            <a:r>
              <a:rPr lang="en-US" sz="1000" dirty="0">
                <a:solidFill>
                  <a:srgbClr val="EDF3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-d '{"title":"用一句话介绍 Go"}'</a:t>
            </a:r>
            <a:pPr indent="0" marL="0">
              <a:lnSpc>
                <a:spcPct val="132000"/>
              </a:lnSpc>
              <a:buNone/>
            </a:pPr>
            <a:r>
              <a:rPr lang="en-US" sz="1000" dirty="0">
                <a:solidFill>
                  <a:srgbClr val="EDF3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32000"/>
              </a:lnSpc>
              <a:buNone/>
            </a:pPr>
            <a:r>
              <a:rPr lang="en-US" sz="1000" b="1" dirty="0">
                <a:solidFill>
                  <a:srgbClr val="7FC8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── 终端 A · 查看任务</a:t>
            </a:r>
            <a:pPr indent="0" marL="0">
              <a:lnSpc>
                <a:spcPct val="132000"/>
              </a:lnSpc>
              <a:buNone/>
            </a:pPr>
            <a:r>
              <a:rPr lang="en-US" sz="1000" dirty="0">
                <a:solidFill>
                  <a:srgbClr val="EDF3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curl http://localhost:8080/api/issues</a:t>
            </a:r>
            <a:pPr indent="0" marL="0">
              <a:lnSpc>
                <a:spcPct val="132000"/>
              </a:lnSpc>
              <a:buNone/>
            </a:pPr>
            <a:r>
              <a:rPr lang="en-US" sz="1000" dirty="0">
                <a:solidFill>
                  <a:srgbClr val="EDF3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32000"/>
              </a:lnSpc>
              <a:buNone/>
            </a:pPr>
            <a:r>
              <a:rPr lang="en-US" sz="1000" b="1" dirty="0">
                <a:solidFill>
                  <a:srgbClr val="E3B0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── 终端 B · worker 自动执行</a:t>
            </a:r>
            <a:pPr indent="0" marL="0">
              <a:lnSpc>
                <a:spcPct val="132000"/>
              </a:lnSpc>
              <a:buNone/>
            </a:pPr>
            <a:r>
              <a:rPr lang="en-US" sz="1000" dirty="0">
                <a:solidFill>
                  <a:srgbClr val="EDF3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✅ 认领到任务 …</a:t>
            </a:r>
            <a:pPr indent="0" marL="0">
              <a:lnSpc>
                <a:spcPct val="132000"/>
              </a:lnSpc>
              <a:buNone/>
            </a:pPr>
            <a:r>
              <a:rPr lang="en-US" sz="1000" dirty="0">
                <a:solidFill>
                  <a:srgbClr val="EDF3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🔨 调 claude 执行: 用一句话介绍 Go 语言</a:t>
            </a:r>
            <a:pPr indent="0" marL="0">
              <a:lnSpc>
                <a:spcPct val="132000"/>
              </a:lnSpc>
              <a:buNone/>
            </a:pPr>
            <a:r>
              <a:rPr lang="en-US" sz="1000" dirty="0">
                <a:solidFill>
                  <a:srgbClr val="EDF3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🏁 任务完成 · claude 回答: …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B2E"/>
          </a:solidFill>
          <a:ln/>
        </p:spPr>
      </p:sp>
      <p:sp>
        <p:nvSpPr>
          <p:cNvPr id="3" name="Shape 1"/>
          <p:cNvSpPr/>
          <p:nvPr/>
        </p:nvSpPr>
        <p:spPr>
          <a:xfrm>
            <a:off x="-1920240" y="-2468880"/>
            <a:ext cx="4754880" cy="4754880"/>
          </a:xfrm>
          <a:prstGeom prst="ellipse">
            <a:avLst/>
          </a:prstGeom>
          <a:solidFill>
            <a:srgbClr val="00ADD8">
              <a:alpha val="1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9784080" y="4663440"/>
            <a:ext cx="4114800" cy="4114800"/>
          </a:xfrm>
          <a:prstGeom prst="ellipse">
            <a:avLst/>
          </a:prstGeom>
          <a:solidFill>
            <a:srgbClr val="D97757">
              <a:alpha val="1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2743200" y="658368"/>
            <a:ext cx="6702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300" kern="0" dirty="0">
                <a:solidFill>
                  <a:srgbClr val="9FD8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WHY IT MATTERS · 总结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914400" y="1078992"/>
            <a:ext cx="103601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一个能跑、能追溯、能教的项目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640080" y="2103120"/>
            <a:ext cx="3511296" cy="1920240"/>
          </a:xfrm>
          <a:prstGeom prst="roundRect">
            <a:avLst>
              <a:gd name="adj" fmla="val 4762"/>
            </a:avLst>
          </a:prstGeom>
          <a:solidFill>
            <a:srgbClr val="1B2B45"/>
          </a:solidFill>
          <a:ln w="9525">
            <a:solidFill>
              <a:srgbClr val="2A3D5F"/>
            </a:solidFill>
            <a:prstDash val="solid"/>
          </a:ln>
          <a:effectLst>
            <a:outerShdw sx="100000" sy="100000" kx="0" ky="0" algn="bl" rotWithShape="0" blurRad="114300" dist="38100" dir="2700000">
              <a:srgbClr val="1B2A45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877824" y="2377440"/>
            <a:ext cx="457200" cy="457200"/>
          </a:xfrm>
          <a:prstGeom prst="ellipse">
            <a:avLst/>
          </a:prstGeom>
          <a:solidFill>
            <a:srgbClr val="00ADD8"/>
          </a:solidFill>
          <a:ln/>
        </p:spPr>
      </p:sp>
      <p:pic>
        <p:nvPicPr>
          <p:cNvPr id="9" name="Image 0" descr="C:\Users\WINDOWS\AppData\Local\Temp\mini-agents-ppt\icons\lock-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8408" y="2478024"/>
            <a:ext cx="256032" cy="256032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481328" y="2377440"/>
            <a:ext cx="24140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DF3F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并发调度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877824" y="2980944"/>
            <a:ext cx="30358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93A4B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乐观锁认领 + claim_token 幂等，多 worker 安全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4343400" y="2103120"/>
            <a:ext cx="3511296" cy="1920240"/>
          </a:xfrm>
          <a:prstGeom prst="roundRect">
            <a:avLst>
              <a:gd name="adj" fmla="val 4762"/>
            </a:avLst>
          </a:prstGeom>
          <a:solidFill>
            <a:srgbClr val="1B2B45"/>
          </a:solidFill>
          <a:ln w="9525">
            <a:solidFill>
              <a:srgbClr val="2A3D5F"/>
            </a:solidFill>
            <a:prstDash val="solid"/>
          </a:ln>
          <a:effectLst>
            <a:outerShdw sx="100000" sy="100000" kx="0" ky="0" algn="bl" rotWithShape="0" blurRad="114300" dist="38100" dir="2700000">
              <a:srgbClr val="1B2A45">
                <a:alpha val="10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581144" y="2377440"/>
            <a:ext cx="457200" cy="457200"/>
          </a:xfrm>
          <a:prstGeom prst="ellipse">
            <a:avLst/>
          </a:prstGeom>
          <a:solidFill>
            <a:srgbClr val="00ADD8"/>
          </a:solidFill>
          <a:ln/>
        </p:spPr>
      </p:sp>
      <p:pic>
        <p:nvPicPr>
          <p:cNvPr id="14" name="Image 1" descr="C:\Users\WINDOWS\AppData\Local\Temp\mini-agents-ppt\icons\terminal-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1728" y="2478024"/>
            <a:ext cx="256032" cy="256032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5184648" y="2377440"/>
            <a:ext cx="24140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DF3F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进程编排</a:t>
            </a:r>
            <a:endParaRPr lang="en-US" sz="1400" dirty="0"/>
          </a:p>
        </p:txBody>
      </p:sp>
      <p:sp>
        <p:nvSpPr>
          <p:cNvPr id="16" name="Text 12"/>
          <p:cNvSpPr/>
          <p:nvPr/>
        </p:nvSpPr>
        <p:spPr>
          <a:xfrm>
            <a:off x="4581144" y="2980944"/>
            <a:ext cx="30358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93A4B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os/exec + context 超时，真实驱动 Claude CLI</a:t>
            </a:r>
            <a:endParaRPr lang="en-US" sz="1050" dirty="0"/>
          </a:p>
        </p:txBody>
      </p:sp>
      <p:sp>
        <p:nvSpPr>
          <p:cNvPr id="17" name="Shape 13"/>
          <p:cNvSpPr/>
          <p:nvPr/>
        </p:nvSpPr>
        <p:spPr>
          <a:xfrm>
            <a:off x="8046720" y="2103120"/>
            <a:ext cx="3511296" cy="1920240"/>
          </a:xfrm>
          <a:prstGeom prst="roundRect">
            <a:avLst>
              <a:gd name="adj" fmla="val 4762"/>
            </a:avLst>
          </a:prstGeom>
          <a:solidFill>
            <a:srgbClr val="1B2B45"/>
          </a:solidFill>
          <a:ln w="9525">
            <a:solidFill>
              <a:srgbClr val="2A3D5F"/>
            </a:solidFill>
            <a:prstDash val="solid"/>
          </a:ln>
          <a:effectLst>
            <a:outerShdw sx="100000" sy="100000" kx="0" ky="0" algn="bl" rotWithShape="0" blurRad="114300" dist="38100" dir="2700000">
              <a:srgbClr val="1B2A45">
                <a:alpha val="10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8284464" y="2377440"/>
            <a:ext cx="457200" cy="457200"/>
          </a:xfrm>
          <a:prstGeom prst="ellipse">
            <a:avLst/>
          </a:prstGeom>
          <a:solidFill>
            <a:srgbClr val="00ADD8"/>
          </a:solidFill>
          <a:ln/>
        </p:spPr>
      </p:sp>
      <p:pic>
        <p:nvPicPr>
          <p:cNvPr id="19" name="Image 2" descr="C:\Users\WINDOWS\AppData\Local\Temp\mini-agents-ppt\icons\database-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5048" y="2478024"/>
            <a:ext cx="256032" cy="256032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8887968" y="2377440"/>
            <a:ext cx="24140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DF3F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数据设计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8284464" y="2980944"/>
            <a:ext cx="30358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93A4B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三表分工 + 应用层关系，清晰可扩展</a:t>
            </a:r>
            <a:endParaRPr lang="en-US" sz="1050" dirty="0"/>
          </a:p>
        </p:txBody>
      </p:sp>
      <p:sp>
        <p:nvSpPr>
          <p:cNvPr id="22" name="Text 17"/>
          <p:cNvSpPr/>
          <p:nvPr/>
        </p:nvSpPr>
        <p:spPr>
          <a:xfrm>
            <a:off x="914400" y="4480560"/>
            <a:ext cx="103601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EDF3F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逐行构建，从 0 理解 Agent 编排 —— 这正是 Multica 的核心架构。</a:t>
            </a:r>
            <a:endParaRPr lang="en-US" sz="1350" dirty="0"/>
          </a:p>
        </p:txBody>
      </p:sp>
      <p:sp>
        <p:nvSpPr>
          <p:cNvPr id="23" name="Shape 18"/>
          <p:cNvSpPr/>
          <p:nvPr/>
        </p:nvSpPr>
        <p:spPr>
          <a:xfrm>
            <a:off x="3170225" y="5257800"/>
            <a:ext cx="1920240" cy="457200"/>
          </a:xfrm>
          <a:prstGeom prst="roundRect">
            <a:avLst>
              <a:gd name="adj" fmla="val 50000"/>
            </a:avLst>
          </a:prstGeom>
          <a:solidFill>
            <a:srgbClr val="1B2B45"/>
          </a:solidFill>
          <a:ln w="9525">
            <a:solidFill>
              <a:srgbClr val="2A3D5F"/>
            </a:solidFill>
            <a:prstDash val="solid"/>
          </a:ln>
        </p:spPr>
      </p:sp>
      <p:sp>
        <p:nvSpPr>
          <p:cNvPr id="24" name="Text 19"/>
          <p:cNvSpPr/>
          <p:nvPr/>
        </p:nvSpPr>
        <p:spPr>
          <a:xfrm>
            <a:off x="3170225" y="525780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3A4B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MIT License</a:t>
            </a:r>
            <a:endParaRPr lang="en-US" sz="1100" dirty="0"/>
          </a:p>
        </p:txBody>
      </p:sp>
      <p:sp>
        <p:nvSpPr>
          <p:cNvPr id="25" name="Shape 20"/>
          <p:cNvSpPr/>
          <p:nvPr/>
        </p:nvSpPr>
        <p:spPr>
          <a:xfrm>
            <a:off x="5364785" y="5257800"/>
            <a:ext cx="3657600" cy="457200"/>
          </a:xfrm>
          <a:prstGeom prst="roundRect">
            <a:avLst>
              <a:gd name="adj" fmla="val 50000"/>
            </a:avLst>
          </a:prstGeom>
          <a:solidFill>
            <a:srgbClr val="1B2B45"/>
          </a:solidFill>
          <a:ln w="9525">
            <a:solidFill>
              <a:srgbClr val="2A3D5F"/>
            </a:solidFill>
            <a:prstDash val="solid"/>
          </a:ln>
        </p:spPr>
      </p:sp>
      <p:sp>
        <p:nvSpPr>
          <p:cNvPr id="26" name="Text 21"/>
          <p:cNvSpPr/>
          <p:nvPr/>
        </p:nvSpPr>
        <p:spPr>
          <a:xfrm>
            <a:off x="5364785" y="525780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3A4B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欢迎 Star · 提 Issue · 交流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mini-agents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mini-agents 项目介绍</dc:title>
  <dc:subject>Go + SQLite 单机版 Agent 编排工具</dc:subject>
  <dc:creator>mini-agents</dc:creator>
  <cp:lastModifiedBy>mini-agents</cp:lastModifiedBy>
  <cp:revision>1</cp:revision>
  <dcterms:created xsi:type="dcterms:W3CDTF">2026-08-10T16:08:54Z</dcterms:created>
  <dcterms:modified xsi:type="dcterms:W3CDTF">2026-08-10T16:08:54Z</dcterms:modified>
</cp:coreProperties>
</file>